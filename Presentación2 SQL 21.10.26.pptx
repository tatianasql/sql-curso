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4" d="100"/>
          <a:sy n="84" d="100"/>
        </p:scale>
        <p:origin x="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2" d="100"/>
        <a:sy n="16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2F9BC-1394-BACF-0072-21DA068F3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5BED04-BC95-78F3-BF20-0FD2F14B0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38F27B-AD33-7985-282D-C6CE36E2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63B47F-3842-6655-DF1D-E2AA0F95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780380-3523-5D55-744C-C7CACF0A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465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C4907-AD46-9908-E2C2-EB4B0FE7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68B083-2D78-46DF-70F3-782A851F9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3D1F8A-3465-FFB2-A147-072DB5A7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5F73B-8296-43E8-8991-DD0C4ABE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FC30F5-734D-0577-A7B4-7E88BDD8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24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A3A5F-329B-AF89-AD9E-B3C3A1D68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C0B47C-8093-0D6F-D408-0C09B3EC8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DD02F0-4381-00D1-5347-76766B00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9FF7D0-D22B-BC95-20F8-FFBF4E9B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A048DF-DC93-D3E6-2F30-439BAD89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92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33F5F-1780-14CD-C39F-182A1116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5A3FC1-062E-DBA1-AD92-D580854E6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B3F327-8003-33F0-81BB-10EC3DF3A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E63D31-B712-3C02-33D8-300C6F44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9FFB87-430A-3430-C686-501B36AC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E05FBE-5D92-A8F0-CB9C-062880DA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72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557B6-1F60-2DB9-3046-AD44A644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404D2A-3F07-E069-9A7B-A847A867E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99D04A-319B-723C-8094-BCC95A3D2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E7524F-3F22-FD01-1607-CB794CEC1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D0E400-DCD3-BCAC-8694-D74A8AC83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49C723-6D95-94B4-5376-195DD680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FD44F0-FCCF-0EDC-4FD5-AD5EC315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F0B4E8-5686-009B-0AB7-8DC31F72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05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02EBD-AF31-283C-9544-31450604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651E5F-F660-D818-DE45-CEEDFC7B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16DFDBD-1376-C7D8-19D6-C5A3F786C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722672-3E3C-2039-4E4D-0394428A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49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185818-D08B-77D4-64C6-2FAD109A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212A45-2350-F419-10D2-5D0E4C81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94D417-24F0-1A9E-9EA4-50519F41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15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E23EC-6205-B63C-A564-7628BB35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B2D42D-3A26-ACAC-A292-8BF191C81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B0A9CD-2E11-6630-60F4-B9E11E376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18C644-4791-C4A5-B4DD-838D4565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3BE083-C7D1-905F-B4F9-5376784A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51EDA2-00D4-127B-CCC5-208EF7E0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42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8F107-BB3B-6879-AC6B-F1CED8B3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A6CB89-508C-1BA9-A87C-B437EBD85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C5DE93-5247-6E50-A566-5A7914D96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80C11A-E7AB-5E7A-4002-21C777B2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F183AA-77B5-0147-65A6-88D1098E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4F2D6E-3067-5F4C-04D5-1B31480A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027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A3A77-1160-C488-0937-FD81A7C6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3EF2C7-4FF5-3496-D470-3C1A4D8C1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13D24D-9E84-9872-E5DB-FBC0E6F7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572285-D4D7-BC3A-3384-3670B36C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15675-759B-6FC7-E59B-618D9E7C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842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783701-BAF6-172D-175A-47B4A8A43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420D5C-FD44-1D8A-8A71-B2A6C5FCE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16C0E-D59E-8AF2-508E-752FA0C3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439AD1-80FF-9744-1A50-3DFABD59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D37EB-AE05-D6BC-7A1D-F303B41C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938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5A8B21-40C3-E61D-6A49-C921EB1F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ED075C-7406-AB24-899E-A2DD79785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9848CF-3761-FCC8-8ED8-BF96C70AF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5FB29-6D47-431C-AFF2-ED618F7FC495}" type="datetimeFigureOut">
              <a:rPr lang="es-ES" smtClean="0"/>
              <a:t>21/10/2026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5CF5B8-4A00-26BF-D192-DC61B09E3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F5710-6E57-55BE-D240-71D242141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41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23278C9-76DD-BE6D-8753-5DFFB3E40435}"/>
              </a:ext>
            </a:extLst>
          </p:cNvPr>
          <p:cNvSpPr/>
          <p:nvPr/>
        </p:nvSpPr>
        <p:spPr>
          <a:xfrm>
            <a:off x="423594" y="398599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PROVEEDOR</a:t>
            </a: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09001B-6677-3708-EF73-923338E065CE}"/>
              </a:ext>
            </a:extLst>
          </p:cNvPr>
          <p:cNvSpPr/>
          <p:nvPr/>
        </p:nvSpPr>
        <p:spPr>
          <a:xfrm>
            <a:off x="427007" y="3116650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CLIENTE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0B9A53-B711-735D-BB56-DEB795B18A05}"/>
              </a:ext>
            </a:extLst>
          </p:cNvPr>
          <p:cNvSpPr/>
          <p:nvPr/>
        </p:nvSpPr>
        <p:spPr>
          <a:xfrm>
            <a:off x="9607458" y="3038809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LINEA</a:t>
            </a:r>
          </a:p>
          <a:p>
            <a:pPr algn="ctr"/>
            <a:r>
              <a:rPr lang="ca-ES" dirty="0"/>
              <a:t>_FACTURA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230C08-F2B8-8EA8-2286-E946E5FEAE29}"/>
              </a:ext>
            </a:extLst>
          </p:cNvPr>
          <p:cNvSpPr/>
          <p:nvPr/>
        </p:nvSpPr>
        <p:spPr>
          <a:xfrm>
            <a:off x="9607458" y="443446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CATEGORIA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5F730A-3382-2AF7-0890-08604E34B20D}"/>
              </a:ext>
            </a:extLst>
          </p:cNvPr>
          <p:cNvSpPr/>
          <p:nvPr/>
        </p:nvSpPr>
        <p:spPr>
          <a:xfrm>
            <a:off x="5194536" y="397313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PRODUCTO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1B112DA-756D-4969-DFDE-3801D79E0DB0}"/>
              </a:ext>
            </a:extLst>
          </p:cNvPr>
          <p:cNvSpPr/>
          <p:nvPr/>
        </p:nvSpPr>
        <p:spPr>
          <a:xfrm>
            <a:off x="5194535" y="3078484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FACTURA</a:t>
            </a:r>
            <a:endParaRPr lang="es-ES" dirty="0"/>
          </a:p>
        </p:txBody>
      </p:sp>
      <p:sp>
        <p:nvSpPr>
          <p:cNvPr id="12" name="Diagrama de flujo: decisión 11">
            <a:extLst>
              <a:ext uri="{FF2B5EF4-FFF2-40B4-BE49-F238E27FC236}">
                <a16:creationId xmlns:a16="http://schemas.microsoft.com/office/drawing/2014/main" id="{0335EA25-C75E-8267-0DAF-59BD2E9ECBE9}"/>
              </a:ext>
            </a:extLst>
          </p:cNvPr>
          <p:cNvSpPr/>
          <p:nvPr/>
        </p:nvSpPr>
        <p:spPr>
          <a:xfrm>
            <a:off x="2747945" y="3028120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>
                <a:solidFill>
                  <a:schemeClr val="tx1"/>
                </a:solidFill>
              </a:rPr>
              <a:t>REALIZA</a:t>
            </a:r>
            <a:endParaRPr lang="es-ES" sz="1400" dirty="0">
              <a:solidFill>
                <a:schemeClr val="tx1"/>
              </a:solidFill>
            </a:endParaRPr>
          </a:p>
        </p:txBody>
      </p:sp>
      <p:sp>
        <p:nvSpPr>
          <p:cNvPr id="14" name="Diagrama de flujo: decisión 13">
            <a:extLst>
              <a:ext uri="{FF2B5EF4-FFF2-40B4-BE49-F238E27FC236}">
                <a16:creationId xmlns:a16="http://schemas.microsoft.com/office/drawing/2014/main" id="{925DF426-B92D-A947-B13E-CC15C0DD74BD}"/>
              </a:ext>
            </a:extLst>
          </p:cNvPr>
          <p:cNvSpPr/>
          <p:nvPr/>
        </p:nvSpPr>
        <p:spPr>
          <a:xfrm>
            <a:off x="7400997" y="342719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200" dirty="0">
                <a:solidFill>
                  <a:schemeClr val="tx1"/>
                </a:solidFill>
              </a:rPr>
              <a:t>CLASIFICA</a:t>
            </a:r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15" name="Diagrama de flujo: decisión 14">
            <a:extLst>
              <a:ext uri="{FF2B5EF4-FFF2-40B4-BE49-F238E27FC236}">
                <a16:creationId xmlns:a16="http://schemas.microsoft.com/office/drawing/2014/main" id="{B77F0EC7-DCC7-B3BF-3341-C672CD363585}"/>
              </a:ext>
            </a:extLst>
          </p:cNvPr>
          <p:cNvSpPr/>
          <p:nvPr/>
        </p:nvSpPr>
        <p:spPr>
          <a:xfrm>
            <a:off x="9602688" y="1754291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200" dirty="0">
                <a:solidFill>
                  <a:schemeClr val="tx1"/>
                </a:solidFill>
              </a:rPr>
              <a:t>APARECE_EN</a:t>
            </a:r>
            <a:endParaRPr lang="es-ES" sz="1200" dirty="0">
              <a:solidFill>
                <a:schemeClr val="tx1"/>
              </a:solidFill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566A171-12D5-11DD-2159-130196ABE69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227265" y="3505491"/>
            <a:ext cx="520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FB28C57-D37F-66B0-2C55-71A0A3DBC983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>
            <a:off x="4550866" y="3505491"/>
            <a:ext cx="64366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E1AE7B3-2DC6-D2DD-4873-0EFF518B1EE0}"/>
              </a:ext>
            </a:extLst>
          </p:cNvPr>
          <p:cNvCxnSpPr>
            <a:stCxn id="8" idx="3"/>
          </p:cNvCxnSpPr>
          <p:nvPr/>
        </p:nvCxnSpPr>
        <p:spPr>
          <a:xfrm flipV="1">
            <a:off x="6997457" y="824320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8FC69BE-CC0F-3E44-9037-E903A8E4BEF9}"/>
              </a:ext>
            </a:extLst>
          </p:cNvPr>
          <p:cNvCxnSpPr/>
          <p:nvPr/>
        </p:nvCxnSpPr>
        <p:spPr>
          <a:xfrm flipV="1">
            <a:off x="9226962" y="820090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7358E68-7FF3-521C-6DC5-43C130DA9E0E}"/>
              </a:ext>
            </a:extLst>
          </p:cNvPr>
          <p:cNvSpPr txBox="1"/>
          <p:nvPr/>
        </p:nvSpPr>
        <p:spPr>
          <a:xfrm>
            <a:off x="7025547" y="55851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4073520-FEF5-E2A2-73EF-00470D85FFB4}"/>
              </a:ext>
            </a:extLst>
          </p:cNvPr>
          <p:cNvSpPr txBox="1"/>
          <p:nvPr/>
        </p:nvSpPr>
        <p:spPr>
          <a:xfrm>
            <a:off x="9145835" y="53870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08C27BB-63DF-CA2C-9D22-D9ABB1458F11}"/>
              </a:ext>
            </a:extLst>
          </p:cNvPr>
          <p:cNvSpPr txBox="1"/>
          <p:nvPr/>
        </p:nvSpPr>
        <p:spPr>
          <a:xfrm>
            <a:off x="8093050" y="96498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(n,1)</a:t>
            </a:r>
            <a:endParaRPr lang="es-ES" sz="10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EB12AD5-0F5A-D8B6-6B0A-B7B7FBE9CF25}"/>
              </a:ext>
            </a:extLst>
          </p:cNvPr>
          <p:cNvSpPr txBox="1"/>
          <p:nvPr/>
        </p:nvSpPr>
        <p:spPr>
          <a:xfrm>
            <a:off x="10508918" y="150988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A21B903-4290-A8E5-0CA1-669CFF707F21}"/>
              </a:ext>
            </a:extLst>
          </p:cNvPr>
          <p:cNvSpPr txBox="1"/>
          <p:nvPr/>
        </p:nvSpPr>
        <p:spPr>
          <a:xfrm>
            <a:off x="4512747" y="325510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DC285FF-5666-9E48-385B-49F151AFA7F4}"/>
              </a:ext>
            </a:extLst>
          </p:cNvPr>
          <p:cNvSpPr txBox="1"/>
          <p:nvPr/>
        </p:nvSpPr>
        <p:spPr>
          <a:xfrm>
            <a:off x="2227265" y="3219596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614064CC-7063-897E-6F42-C6054CA4A0F0}"/>
              </a:ext>
            </a:extLst>
          </p:cNvPr>
          <p:cNvSpPr txBox="1"/>
          <p:nvPr/>
        </p:nvSpPr>
        <p:spPr>
          <a:xfrm>
            <a:off x="3241601" y="2741215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(n,1)</a:t>
            </a:r>
            <a:endParaRPr lang="es-ES" sz="10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984D5B8A-D9E1-8396-F360-BE075E151DF5}"/>
              </a:ext>
            </a:extLst>
          </p:cNvPr>
          <p:cNvSpPr/>
          <p:nvPr/>
        </p:nvSpPr>
        <p:spPr>
          <a:xfrm>
            <a:off x="4881313" y="972320"/>
            <a:ext cx="259853" cy="246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13941A26-F7EA-F5DE-FA81-DF4A95E13A38}"/>
              </a:ext>
            </a:extLst>
          </p:cNvPr>
          <p:cNvSpPr/>
          <p:nvPr/>
        </p:nvSpPr>
        <p:spPr>
          <a:xfrm>
            <a:off x="4882486" y="1263666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5E917C3-3C67-0E8F-D7EC-39C39892CD85}"/>
              </a:ext>
            </a:extLst>
          </p:cNvPr>
          <p:cNvSpPr txBox="1"/>
          <p:nvPr/>
        </p:nvSpPr>
        <p:spPr>
          <a:xfrm>
            <a:off x="3791781" y="1003217"/>
            <a:ext cx="11526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1000" dirty="0" err="1"/>
              <a:t>Id_producto</a:t>
            </a:r>
            <a:endParaRPr lang="es-ES" sz="1000" dirty="0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AA15503-48DF-2839-46C0-883D7ADF71BD}"/>
              </a:ext>
            </a:extLst>
          </p:cNvPr>
          <p:cNvSpPr/>
          <p:nvPr/>
        </p:nvSpPr>
        <p:spPr>
          <a:xfrm>
            <a:off x="4886024" y="1543659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CB3C5F2-C5FA-0BE8-E940-3E46B3FDAD93}"/>
              </a:ext>
            </a:extLst>
          </p:cNvPr>
          <p:cNvSpPr txBox="1"/>
          <p:nvPr/>
        </p:nvSpPr>
        <p:spPr>
          <a:xfrm>
            <a:off x="4201942" y="1267120"/>
            <a:ext cx="6778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nombre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BA56D155-C1D8-FC71-8899-B9E382CA302B}"/>
              </a:ext>
            </a:extLst>
          </p:cNvPr>
          <p:cNvSpPr/>
          <p:nvPr/>
        </p:nvSpPr>
        <p:spPr>
          <a:xfrm>
            <a:off x="4889049" y="1817609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3D7FE07B-9EEC-4A59-A90F-EB760F114559}"/>
              </a:ext>
            </a:extLst>
          </p:cNvPr>
          <p:cNvSpPr txBox="1"/>
          <p:nvPr/>
        </p:nvSpPr>
        <p:spPr>
          <a:xfrm>
            <a:off x="3714106" y="1543658"/>
            <a:ext cx="1189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precio actual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0C76DB56-24D5-9FAD-C6AD-B6C9F1A1551F}"/>
              </a:ext>
            </a:extLst>
          </p:cNvPr>
          <p:cNvSpPr/>
          <p:nvPr/>
        </p:nvSpPr>
        <p:spPr>
          <a:xfrm>
            <a:off x="2278524" y="1015282"/>
            <a:ext cx="259853" cy="246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E47099B-9807-FB87-EB04-CDFF3CBD0444}"/>
              </a:ext>
            </a:extLst>
          </p:cNvPr>
          <p:cNvSpPr/>
          <p:nvPr/>
        </p:nvSpPr>
        <p:spPr>
          <a:xfrm>
            <a:off x="2279697" y="1329488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9456B50-46CC-D46B-9692-9BD1A2456E39}"/>
              </a:ext>
            </a:extLst>
          </p:cNvPr>
          <p:cNvSpPr/>
          <p:nvPr/>
        </p:nvSpPr>
        <p:spPr>
          <a:xfrm>
            <a:off x="2283235" y="1609481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5CF0C210-E868-B7E2-6BFB-029FDF9DBFF9}"/>
              </a:ext>
            </a:extLst>
          </p:cNvPr>
          <p:cNvSpPr/>
          <p:nvPr/>
        </p:nvSpPr>
        <p:spPr>
          <a:xfrm>
            <a:off x="2286260" y="2100601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79E01FD-3339-A3ED-0E1C-91C1D6A0E029}"/>
              </a:ext>
            </a:extLst>
          </p:cNvPr>
          <p:cNvSpPr txBox="1"/>
          <p:nvPr/>
        </p:nvSpPr>
        <p:spPr>
          <a:xfrm>
            <a:off x="2531631" y="1068113"/>
            <a:ext cx="677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CIF_NIF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73AC350-AED0-FCC7-C88E-4FA7C83F66D5}"/>
              </a:ext>
            </a:extLst>
          </p:cNvPr>
          <p:cNvSpPr txBox="1"/>
          <p:nvPr/>
        </p:nvSpPr>
        <p:spPr>
          <a:xfrm>
            <a:off x="2491284" y="1322714"/>
            <a:ext cx="754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nombre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D7D7197-63A0-EB29-35A0-0A4C61B6EE31}"/>
              </a:ext>
            </a:extLst>
          </p:cNvPr>
          <p:cNvSpPr txBox="1"/>
          <p:nvPr/>
        </p:nvSpPr>
        <p:spPr>
          <a:xfrm>
            <a:off x="2475501" y="1580096"/>
            <a:ext cx="1608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Dirección (Calle, Número,</a:t>
            </a:r>
          </a:p>
          <a:p>
            <a:r>
              <a:rPr lang="es-ES" sz="1000" dirty="0"/>
              <a:t>Ciudad y Código Postal)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3E8D84C-F9BB-F6AD-2E86-07478F753C16}"/>
              </a:ext>
            </a:extLst>
          </p:cNvPr>
          <p:cNvSpPr txBox="1"/>
          <p:nvPr/>
        </p:nvSpPr>
        <p:spPr>
          <a:xfrm>
            <a:off x="2545168" y="2114110"/>
            <a:ext cx="9704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teléfono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27C771E6-5D12-856C-9863-01727A37D9C6}"/>
              </a:ext>
            </a:extLst>
          </p:cNvPr>
          <p:cNvSpPr/>
          <p:nvPr/>
        </p:nvSpPr>
        <p:spPr>
          <a:xfrm>
            <a:off x="2283676" y="2446872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1F66466-E2E5-C226-DADD-A84FA00188DC}"/>
              </a:ext>
            </a:extLst>
          </p:cNvPr>
          <p:cNvSpPr txBox="1"/>
          <p:nvPr/>
        </p:nvSpPr>
        <p:spPr>
          <a:xfrm>
            <a:off x="2542584" y="2437521"/>
            <a:ext cx="9704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página web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43ECCCE-BEC9-9EF6-0EC0-7B12FBA2DEC3}"/>
              </a:ext>
            </a:extLst>
          </p:cNvPr>
          <p:cNvSpPr txBox="1"/>
          <p:nvPr/>
        </p:nvSpPr>
        <p:spPr>
          <a:xfrm>
            <a:off x="4194348" y="1783937"/>
            <a:ext cx="6778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stock</a:t>
            </a:r>
          </a:p>
        </p:txBody>
      </p:sp>
      <p:sp>
        <p:nvSpPr>
          <p:cNvPr id="67" name="Diagrama de flujo: decisión 66">
            <a:extLst>
              <a:ext uri="{FF2B5EF4-FFF2-40B4-BE49-F238E27FC236}">
                <a16:creationId xmlns:a16="http://schemas.microsoft.com/office/drawing/2014/main" id="{34169AA9-47CF-0C95-9A76-F7EEF78D23A1}"/>
              </a:ext>
            </a:extLst>
          </p:cNvPr>
          <p:cNvSpPr/>
          <p:nvPr/>
        </p:nvSpPr>
        <p:spPr>
          <a:xfrm>
            <a:off x="2795439" y="358098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400" dirty="0">
                <a:solidFill>
                  <a:schemeClr val="tx1"/>
                </a:solidFill>
              </a:rPr>
              <a:t>PROVEE</a:t>
            </a:r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370F880-600B-3FD2-7F19-E49DEBC1C162}"/>
              </a:ext>
            </a:extLst>
          </p:cNvPr>
          <p:cNvCxnSpPr>
            <a:cxnSpLocks/>
            <a:stCxn id="4" idx="3"/>
            <a:endCxn id="67" idx="1"/>
          </p:cNvCxnSpPr>
          <p:nvPr/>
        </p:nvCxnSpPr>
        <p:spPr>
          <a:xfrm>
            <a:off x="2226515" y="825607"/>
            <a:ext cx="568924" cy="9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08EFED2F-516E-E46A-8173-65740D7F9CA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98360" y="824321"/>
            <a:ext cx="596176" cy="111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Elipse 81">
            <a:extLst>
              <a:ext uri="{FF2B5EF4-FFF2-40B4-BE49-F238E27FC236}">
                <a16:creationId xmlns:a16="http://schemas.microsoft.com/office/drawing/2014/main" id="{00894590-F366-5C95-D02B-3A5BA4B74681}"/>
              </a:ext>
            </a:extLst>
          </p:cNvPr>
          <p:cNvSpPr/>
          <p:nvPr/>
        </p:nvSpPr>
        <p:spPr>
          <a:xfrm>
            <a:off x="9297115" y="1007489"/>
            <a:ext cx="259853" cy="246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36C18D29-72EC-07E5-A5CA-660A2A431119}"/>
              </a:ext>
            </a:extLst>
          </p:cNvPr>
          <p:cNvSpPr/>
          <p:nvPr/>
        </p:nvSpPr>
        <p:spPr>
          <a:xfrm>
            <a:off x="9298288" y="1298835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E776FC05-337B-5FEB-F2D2-479C61EE10D9}"/>
              </a:ext>
            </a:extLst>
          </p:cNvPr>
          <p:cNvSpPr txBox="1"/>
          <p:nvPr/>
        </p:nvSpPr>
        <p:spPr>
          <a:xfrm>
            <a:off x="8391206" y="1063427"/>
            <a:ext cx="1001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1000" dirty="0" err="1"/>
              <a:t>Id</a:t>
            </a:r>
            <a:r>
              <a:rPr lang="ca-ES" sz="1000" dirty="0"/>
              <a:t>_</a:t>
            </a:r>
            <a:r>
              <a:rPr lang="es-ES" sz="1000" dirty="0"/>
              <a:t>categoría</a:t>
            </a:r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79FABE60-2B6D-8E40-4D14-F5CC2049B235}"/>
              </a:ext>
            </a:extLst>
          </p:cNvPr>
          <p:cNvSpPr/>
          <p:nvPr/>
        </p:nvSpPr>
        <p:spPr>
          <a:xfrm>
            <a:off x="9301826" y="1578828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164C98D4-A874-8718-CC99-AB4D6A77F496}"/>
              </a:ext>
            </a:extLst>
          </p:cNvPr>
          <p:cNvSpPr txBox="1"/>
          <p:nvPr/>
        </p:nvSpPr>
        <p:spPr>
          <a:xfrm>
            <a:off x="8617744" y="1302289"/>
            <a:ext cx="6778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nombre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4CE795F3-DACD-E496-20AA-E16140BC9F00}"/>
              </a:ext>
            </a:extLst>
          </p:cNvPr>
          <p:cNvSpPr txBox="1"/>
          <p:nvPr/>
        </p:nvSpPr>
        <p:spPr>
          <a:xfrm>
            <a:off x="8453785" y="1566567"/>
            <a:ext cx="8791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descripción</a:t>
            </a:r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720BB9E0-70CF-6676-E224-FF0804FD9DB1}"/>
              </a:ext>
            </a:extLst>
          </p:cNvPr>
          <p:cNvSpPr/>
          <p:nvPr/>
        </p:nvSpPr>
        <p:spPr>
          <a:xfrm>
            <a:off x="423594" y="5410471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TELÉFONO</a:t>
            </a:r>
          </a:p>
          <a:p>
            <a:pPr algn="ctr"/>
            <a:r>
              <a:rPr lang="es-ES" dirty="0"/>
              <a:t>_CLIENTE</a:t>
            </a:r>
          </a:p>
        </p:txBody>
      </p:sp>
      <p:sp>
        <p:nvSpPr>
          <p:cNvPr id="92" name="Diagrama de flujo: decisión 91">
            <a:extLst>
              <a:ext uri="{FF2B5EF4-FFF2-40B4-BE49-F238E27FC236}">
                <a16:creationId xmlns:a16="http://schemas.microsoft.com/office/drawing/2014/main" id="{02140C13-2F3B-B368-36DB-DD2435EFAD33}"/>
              </a:ext>
            </a:extLst>
          </p:cNvPr>
          <p:cNvSpPr/>
          <p:nvPr/>
        </p:nvSpPr>
        <p:spPr>
          <a:xfrm>
            <a:off x="422553" y="4271703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>
                <a:solidFill>
                  <a:schemeClr val="tx1"/>
                </a:solidFill>
              </a:rPr>
              <a:t>tiene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4C6BC5CB-0517-45EC-9FD1-EC77764B8F65}"/>
              </a:ext>
            </a:extLst>
          </p:cNvPr>
          <p:cNvSpPr/>
          <p:nvPr/>
        </p:nvSpPr>
        <p:spPr>
          <a:xfrm>
            <a:off x="2274466" y="3783327"/>
            <a:ext cx="259853" cy="246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FCBA5ACD-087D-DA00-1885-554EAB99A5FB}"/>
              </a:ext>
            </a:extLst>
          </p:cNvPr>
          <p:cNvSpPr/>
          <p:nvPr/>
        </p:nvSpPr>
        <p:spPr>
          <a:xfrm>
            <a:off x="2275639" y="4097533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DF701A03-650C-55E1-8484-8B75F730ACE1}"/>
              </a:ext>
            </a:extLst>
          </p:cNvPr>
          <p:cNvSpPr/>
          <p:nvPr/>
        </p:nvSpPr>
        <p:spPr>
          <a:xfrm>
            <a:off x="2279177" y="4377526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BDFA033B-62EB-BB2E-1D53-604FFEB8A3E7}"/>
              </a:ext>
            </a:extLst>
          </p:cNvPr>
          <p:cNvSpPr txBox="1"/>
          <p:nvPr/>
        </p:nvSpPr>
        <p:spPr>
          <a:xfrm>
            <a:off x="2527573" y="3836158"/>
            <a:ext cx="677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CIF_NIF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817089DF-A1A8-E467-F5B9-8DE90C2E4C52}"/>
              </a:ext>
            </a:extLst>
          </p:cNvPr>
          <p:cNvSpPr txBox="1"/>
          <p:nvPr/>
        </p:nvSpPr>
        <p:spPr>
          <a:xfrm>
            <a:off x="2487226" y="4090759"/>
            <a:ext cx="754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nombre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A06801C2-340C-A54C-F1BD-42117E2ABDA1}"/>
              </a:ext>
            </a:extLst>
          </p:cNvPr>
          <p:cNvSpPr txBox="1"/>
          <p:nvPr/>
        </p:nvSpPr>
        <p:spPr>
          <a:xfrm>
            <a:off x="2471443" y="4336711"/>
            <a:ext cx="16083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Dirección (Calle, Número,</a:t>
            </a:r>
          </a:p>
          <a:p>
            <a:r>
              <a:rPr lang="es-ES" sz="1000" dirty="0"/>
              <a:t>Ciudad y Código Postal)</a:t>
            </a:r>
          </a:p>
        </p:txBody>
      </p:sp>
      <p:sp>
        <p:nvSpPr>
          <p:cNvPr id="101" name="Elipse 100">
            <a:extLst>
              <a:ext uri="{FF2B5EF4-FFF2-40B4-BE49-F238E27FC236}">
                <a16:creationId xmlns:a16="http://schemas.microsoft.com/office/drawing/2014/main" id="{DC90583C-3C08-9D0E-1332-13F6F94593E7}"/>
              </a:ext>
            </a:extLst>
          </p:cNvPr>
          <p:cNvSpPr/>
          <p:nvPr/>
        </p:nvSpPr>
        <p:spPr>
          <a:xfrm>
            <a:off x="2295202" y="5808543"/>
            <a:ext cx="259853" cy="246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B99A003D-8566-F08A-5524-988F7D65F450}"/>
              </a:ext>
            </a:extLst>
          </p:cNvPr>
          <p:cNvSpPr/>
          <p:nvPr/>
        </p:nvSpPr>
        <p:spPr>
          <a:xfrm>
            <a:off x="2296375" y="6111319"/>
            <a:ext cx="259853" cy="24622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highlight>
                <a:srgbClr val="00FF00"/>
              </a:highlight>
            </a:endParaRP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8ED56E91-6721-778D-D3A2-BF9FC841D4F3}"/>
              </a:ext>
            </a:extLst>
          </p:cNvPr>
          <p:cNvSpPr txBox="1"/>
          <p:nvPr/>
        </p:nvSpPr>
        <p:spPr>
          <a:xfrm>
            <a:off x="2498072" y="5801769"/>
            <a:ext cx="9704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teléfono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AC4C2F6E-E084-FAE1-635E-275D9AD72C75}"/>
              </a:ext>
            </a:extLst>
          </p:cNvPr>
          <p:cNvSpPr txBox="1"/>
          <p:nvPr/>
        </p:nvSpPr>
        <p:spPr>
          <a:xfrm>
            <a:off x="2525512" y="6141375"/>
            <a:ext cx="677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CIF/NIF</a:t>
            </a:r>
          </a:p>
        </p:txBody>
      </p:sp>
      <p:sp>
        <p:nvSpPr>
          <p:cNvPr id="112" name="Diagrama de flujo: decisión 111">
            <a:extLst>
              <a:ext uri="{FF2B5EF4-FFF2-40B4-BE49-F238E27FC236}">
                <a16:creationId xmlns:a16="http://schemas.microsoft.com/office/drawing/2014/main" id="{A3184ABF-B943-D6A4-AADE-5345A820EF9D}"/>
              </a:ext>
            </a:extLst>
          </p:cNvPr>
          <p:cNvSpPr/>
          <p:nvPr/>
        </p:nvSpPr>
        <p:spPr>
          <a:xfrm>
            <a:off x="7390875" y="3020646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1200" dirty="0">
                <a:solidFill>
                  <a:schemeClr val="tx1"/>
                </a:solidFill>
              </a:rPr>
              <a:t>CONTIENE</a:t>
            </a:r>
            <a:endParaRPr lang="es-ES" sz="1200" dirty="0">
              <a:solidFill>
                <a:schemeClr val="tx1"/>
              </a:solidFill>
            </a:endParaRPr>
          </a:p>
        </p:txBody>
      </p: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DDB4016A-A03C-4D91-EE3E-4FB849965964}"/>
              </a:ext>
            </a:extLst>
          </p:cNvPr>
          <p:cNvCxnSpPr/>
          <p:nvPr/>
        </p:nvCxnSpPr>
        <p:spPr>
          <a:xfrm flipV="1">
            <a:off x="9216840" y="3498017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E57F004A-6BFF-FB2D-5000-A940E45C224A}"/>
              </a:ext>
            </a:extLst>
          </p:cNvPr>
          <p:cNvSpPr txBox="1"/>
          <p:nvPr/>
        </p:nvSpPr>
        <p:spPr>
          <a:xfrm>
            <a:off x="9135713" y="3216636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EA6FE2BB-3A23-9E52-8D46-330350E62A91}"/>
              </a:ext>
            </a:extLst>
          </p:cNvPr>
          <p:cNvSpPr txBox="1"/>
          <p:nvPr/>
        </p:nvSpPr>
        <p:spPr>
          <a:xfrm>
            <a:off x="8082928" y="2774425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(n,1)</a:t>
            </a:r>
            <a:endParaRPr lang="es-ES" sz="10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16" name="Elipse 115">
            <a:extLst>
              <a:ext uri="{FF2B5EF4-FFF2-40B4-BE49-F238E27FC236}">
                <a16:creationId xmlns:a16="http://schemas.microsoft.com/office/drawing/2014/main" id="{4A32E8FB-91D8-28C4-7756-42C7CADF2B57}"/>
              </a:ext>
            </a:extLst>
          </p:cNvPr>
          <p:cNvSpPr/>
          <p:nvPr/>
        </p:nvSpPr>
        <p:spPr>
          <a:xfrm>
            <a:off x="9286993" y="3685416"/>
            <a:ext cx="259853" cy="246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Elipse 116">
            <a:extLst>
              <a:ext uri="{FF2B5EF4-FFF2-40B4-BE49-F238E27FC236}">
                <a16:creationId xmlns:a16="http://schemas.microsoft.com/office/drawing/2014/main" id="{D48925FA-5D73-5219-AFB8-52FF430159D4}"/>
              </a:ext>
            </a:extLst>
          </p:cNvPr>
          <p:cNvSpPr/>
          <p:nvPr/>
        </p:nvSpPr>
        <p:spPr>
          <a:xfrm>
            <a:off x="9288166" y="3976762"/>
            <a:ext cx="259853" cy="24622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B8A11B90-F831-5897-9ACF-9C7863C42848}"/>
              </a:ext>
            </a:extLst>
          </p:cNvPr>
          <p:cNvSpPr txBox="1"/>
          <p:nvPr/>
        </p:nvSpPr>
        <p:spPr>
          <a:xfrm>
            <a:off x="8381084" y="3741354"/>
            <a:ext cx="1001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1000" dirty="0" err="1"/>
              <a:t>Num_factura</a:t>
            </a:r>
            <a:endParaRPr lang="es-ES" sz="1000" dirty="0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36E3C6AC-6D47-5ECA-C6A9-F65DB81A3054}"/>
              </a:ext>
            </a:extLst>
          </p:cNvPr>
          <p:cNvSpPr/>
          <p:nvPr/>
        </p:nvSpPr>
        <p:spPr>
          <a:xfrm>
            <a:off x="9291704" y="4256755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7956DAB9-5BB5-DD41-C65E-E1680EA50961}"/>
              </a:ext>
            </a:extLst>
          </p:cNvPr>
          <p:cNvSpPr txBox="1"/>
          <p:nvPr/>
        </p:nvSpPr>
        <p:spPr>
          <a:xfrm>
            <a:off x="8293564" y="4014506"/>
            <a:ext cx="9918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1000" dirty="0"/>
              <a:t>I</a:t>
            </a:r>
            <a:r>
              <a:rPr lang="es-ES" sz="1000" dirty="0" err="1"/>
              <a:t>D_producto</a:t>
            </a:r>
            <a:endParaRPr lang="es-ES" sz="1000" dirty="0"/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B6F289CF-BEEE-4BE3-7BDC-C54420D9694C}"/>
              </a:ext>
            </a:extLst>
          </p:cNvPr>
          <p:cNvSpPr txBox="1"/>
          <p:nvPr/>
        </p:nvSpPr>
        <p:spPr>
          <a:xfrm>
            <a:off x="8194310" y="4221585"/>
            <a:ext cx="10263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 err="1"/>
              <a:t>precio_venta</a:t>
            </a:r>
            <a:endParaRPr lang="es-ES" sz="1000" dirty="0"/>
          </a:p>
        </p:txBody>
      </p:sp>
      <p:sp>
        <p:nvSpPr>
          <p:cNvPr id="132" name="Elipse 131">
            <a:extLst>
              <a:ext uri="{FF2B5EF4-FFF2-40B4-BE49-F238E27FC236}">
                <a16:creationId xmlns:a16="http://schemas.microsoft.com/office/drawing/2014/main" id="{7DD68826-07EA-12E5-2A9D-B3DDC36E41B7}"/>
              </a:ext>
            </a:extLst>
          </p:cNvPr>
          <p:cNvSpPr/>
          <p:nvPr/>
        </p:nvSpPr>
        <p:spPr>
          <a:xfrm>
            <a:off x="4827321" y="3738672"/>
            <a:ext cx="259853" cy="246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3" name="Elipse 132">
            <a:extLst>
              <a:ext uri="{FF2B5EF4-FFF2-40B4-BE49-F238E27FC236}">
                <a16:creationId xmlns:a16="http://schemas.microsoft.com/office/drawing/2014/main" id="{1641A251-0DA9-6CBD-8764-E10353668CBA}"/>
              </a:ext>
            </a:extLst>
          </p:cNvPr>
          <p:cNvSpPr/>
          <p:nvPr/>
        </p:nvSpPr>
        <p:spPr>
          <a:xfrm>
            <a:off x="4828494" y="4030018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4" name="Elipse 133">
            <a:extLst>
              <a:ext uri="{FF2B5EF4-FFF2-40B4-BE49-F238E27FC236}">
                <a16:creationId xmlns:a16="http://schemas.microsoft.com/office/drawing/2014/main" id="{EB520E8B-257B-9CEE-EAB9-11091E4BA9DE}"/>
              </a:ext>
            </a:extLst>
          </p:cNvPr>
          <p:cNvSpPr/>
          <p:nvPr/>
        </p:nvSpPr>
        <p:spPr>
          <a:xfrm>
            <a:off x="4832032" y="4310011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C1D74BF3-F2B2-B00C-5987-A1FE1887AF87}"/>
              </a:ext>
            </a:extLst>
          </p:cNvPr>
          <p:cNvSpPr txBox="1"/>
          <p:nvPr/>
        </p:nvSpPr>
        <p:spPr>
          <a:xfrm>
            <a:off x="4147950" y="4033472"/>
            <a:ext cx="6778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fecha</a:t>
            </a:r>
          </a:p>
        </p:txBody>
      </p:sp>
      <p:sp>
        <p:nvSpPr>
          <p:cNvPr id="136" name="Elipse 135">
            <a:extLst>
              <a:ext uri="{FF2B5EF4-FFF2-40B4-BE49-F238E27FC236}">
                <a16:creationId xmlns:a16="http://schemas.microsoft.com/office/drawing/2014/main" id="{7C5476B7-0DF8-E9FB-6696-DC1CB9688D8F}"/>
              </a:ext>
            </a:extLst>
          </p:cNvPr>
          <p:cNvSpPr/>
          <p:nvPr/>
        </p:nvSpPr>
        <p:spPr>
          <a:xfrm>
            <a:off x="4835057" y="4583961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F92C2A2B-E42C-F2D3-1099-4C5E29AB32F9}"/>
              </a:ext>
            </a:extLst>
          </p:cNvPr>
          <p:cNvSpPr txBox="1"/>
          <p:nvPr/>
        </p:nvSpPr>
        <p:spPr>
          <a:xfrm>
            <a:off x="3791782" y="4550289"/>
            <a:ext cx="1026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importe final (con el </a:t>
            </a:r>
            <a:r>
              <a:rPr lang="es-ES" sz="1000" dirty="0" err="1"/>
              <a:t>iva</a:t>
            </a:r>
            <a:r>
              <a:rPr lang="es-ES" sz="1000" dirty="0"/>
              <a:t>)</a:t>
            </a:r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C71F1D28-C4E5-6037-28C6-96B42BB134CC}"/>
              </a:ext>
            </a:extLst>
          </p:cNvPr>
          <p:cNvSpPr txBox="1"/>
          <p:nvPr/>
        </p:nvSpPr>
        <p:spPr>
          <a:xfrm>
            <a:off x="4150852" y="3750629"/>
            <a:ext cx="6778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número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42FC07F4-1CE5-E8C6-F1B4-0B45F4456E69}"/>
              </a:ext>
            </a:extLst>
          </p:cNvPr>
          <p:cNvSpPr txBox="1"/>
          <p:nvPr/>
        </p:nvSpPr>
        <p:spPr>
          <a:xfrm>
            <a:off x="3993890" y="4314174"/>
            <a:ext cx="831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descuento</a:t>
            </a:r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BB6AA814-3093-A80D-DC94-26396C49D7EA}"/>
              </a:ext>
            </a:extLst>
          </p:cNvPr>
          <p:cNvSpPr/>
          <p:nvPr/>
        </p:nvSpPr>
        <p:spPr>
          <a:xfrm>
            <a:off x="4840875" y="4939182"/>
            <a:ext cx="259853" cy="246221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7409350D-B265-C834-6CF0-5F5FF4CAA674}"/>
              </a:ext>
            </a:extLst>
          </p:cNvPr>
          <p:cNvSpPr txBox="1"/>
          <p:nvPr/>
        </p:nvSpPr>
        <p:spPr>
          <a:xfrm>
            <a:off x="4092175" y="4946374"/>
            <a:ext cx="677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/>
              <a:t>CIF_NIF cliente</a:t>
            </a:r>
          </a:p>
        </p:txBody>
      </p:sp>
      <p:sp>
        <p:nvSpPr>
          <p:cNvPr id="144" name="Elipse 143">
            <a:extLst>
              <a:ext uri="{FF2B5EF4-FFF2-40B4-BE49-F238E27FC236}">
                <a16:creationId xmlns:a16="http://schemas.microsoft.com/office/drawing/2014/main" id="{662CF0A7-DE8C-36BB-2080-4EE43DED9315}"/>
              </a:ext>
            </a:extLst>
          </p:cNvPr>
          <p:cNvSpPr/>
          <p:nvPr/>
        </p:nvSpPr>
        <p:spPr>
          <a:xfrm>
            <a:off x="9297979" y="4542094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792B2A2C-0E27-57E1-5477-E15A8679E3D5}"/>
              </a:ext>
            </a:extLst>
          </p:cNvPr>
          <p:cNvSpPr txBox="1"/>
          <p:nvPr/>
        </p:nvSpPr>
        <p:spPr>
          <a:xfrm>
            <a:off x="7955281" y="4506924"/>
            <a:ext cx="127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 err="1"/>
              <a:t>cantidad_vendida</a:t>
            </a:r>
            <a:endParaRPr lang="es-ES" sz="1000" dirty="0"/>
          </a:p>
        </p:txBody>
      </p:sp>
      <p:sp>
        <p:nvSpPr>
          <p:cNvPr id="146" name="Elipse 145">
            <a:extLst>
              <a:ext uri="{FF2B5EF4-FFF2-40B4-BE49-F238E27FC236}">
                <a16:creationId xmlns:a16="http://schemas.microsoft.com/office/drawing/2014/main" id="{9BB8B896-DCF3-0071-B5C4-28825211EE4C}"/>
              </a:ext>
            </a:extLst>
          </p:cNvPr>
          <p:cNvSpPr/>
          <p:nvPr/>
        </p:nvSpPr>
        <p:spPr>
          <a:xfrm>
            <a:off x="9294472" y="4828094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388A3CBF-26D9-EFAA-472D-8AEA4E69DAF2}"/>
              </a:ext>
            </a:extLst>
          </p:cNvPr>
          <p:cNvSpPr txBox="1"/>
          <p:nvPr/>
        </p:nvSpPr>
        <p:spPr>
          <a:xfrm>
            <a:off x="7450246" y="4830182"/>
            <a:ext cx="18029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dirty="0" err="1"/>
              <a:t>Importe_total_producto</a:t>
            </a:r>
            <a:endParaRPr lang="es-ES" sz="1000" dirty="0"/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74D99D95-F877-5D78-E6FF-69E29BD19B6C}"/>
              </a:ext>
            </a:extLst>
          </p:cNvPr>
          <p:cNvSpPr txBox="1"/>
          <p:nvPr/>
        </p:nvSpPr>
        <p:spPr>
          <a:xfrm>
            <a:off x="2298777" y="58440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D68DB997-1EC6-8D2D-0395-960E0BD9EE90}"/>
              </a:ext>
            </a:extLst>
          </p:cNvPr>
          <p:cNvSpPr txBox="1"/>
          <p:nvPr/>
        </p:nvSpPr>
        <p:spPr>
          <a:xfrm>
            <a:off x="4602315" y="57386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1E47FA3A-622F-0074-96E0-8CD2CDF1C3AB}"/>
              </a:ext>
            </a:extLst>
          </p:cNvPr>
          <p:cNvCxnSpPr>
            <a:stCxn id="7" idx="2"/>
            <a:endCxn id="44" idx="1"/>
          </p:cNvCxnSpPr>
          <p:nvPr/>
        </p:nvCxnSpPr>
        <p:spPr>
          <a:xfrm flipH="1">
            <a:off x="10508918" y="1297461"/>
            <a:ext cx="1" cy="456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D5C4CB9A-B145-9E67-45FA-89F2D8CFE838}"/>
              </a:ext>
            </a:extLst>
          </p:cNvPr>
          <p:cNvCxnSpPr/>
          <p:nvPr/>
        </p:nvCxnSpPr>
        <p:spPr>
          <a:xfrm flipH="1">
            <a:off x="10477928" y="2683742"/>
            <a:ext cx="1" cy="4568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016C42E1-6DCD-EA91-6279-A4F5C2D99E43}"/>
              </a:ext>
            </a:extLst>
          </p:cNvPr>
          <p:cNvCxnSpPr/>
          <p:nvPr/>
        </p:nvCxnSpPr>
        <p:spPr>
          <a:xfrm flipV="1">
            <a:off x="7008562" y="3493876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CC9275BE-D537-45FE-93C1-86F622EE35F8}"/>
              </a:ext>
            </a:extLst>
          </p:cNvPr>
          <p:cNvSpPr txBox="1"/>
          <p:nvPr/>
        </p:nvSpPr>
        <p:spPr>
          <a:xfrm>
            <a:off x="7036652" y="3228066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49767450-C0BA-4E4D-09D9-724998CEF37A}"/>
              </a:ext>
            </a:extLst>
          </p:cNvPr>
          <p:cNvSpPr txBox="1"/>
          <p:nvPr/>
        </p:nvSpPr>
        <p:spPr>
          <a:xfrm>
            <a:off x="3454253" y="123677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(n,1)</a:t>
            </a:r>
            <a:endParaRPr lang="es-ES" sz="10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D3FE5BC9-3B82-33F3-34E5-300C3E68E345}"/>
              </a:ext>
            </a:extLst>
          </p:cNvPr>
          <p:cNvSpPr txBox="1"/>
          <p:nvPr/>
        </p:nvSpPr>
        <p:spPr>
          <a:xfrm>
            <a:off x="10502994" y="275081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808F54B2-2DEF-58B1-85F4-396B8821DB38}"/>
              </a:ext>
            </a:extLst>
          </p:cNvPr>
          <p:cNvCxnSpPr>
            <a:cxnSpLocks/>
            <a:stCxn id="5" idx="2"/>
            <a:endCxn id="92" idx="0"/>
          </p:cNvCxnSpPr>
          <p:nvPr/>
        </p:nvCxnSpPr>
        <p:spPr>
          <a:xfrm flipH="1">
            <a:off x="1324014" y="3970665"/>
            <a:ext cx="4454" cy="301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166">
            <a:extLst>
              <a:ext uri="{FF2B5EF4-FFF2-40B4-BE49-F238E27FC236}">
                <a16:creationId xmlns:a16="http://schemas.microsoft.com/office/drawing/2014/main" id="{470BB7E6-C0BF-989F-6273-E4B711C0127C}"/>
              </a:ext>
            </a:extLst>
          </p:cNvPr>
          <p:cNvCxnSpPr>
            <a:cxnSpLocks/>
          </p:cNvCxnSpPr>
          <p:nvPr/>
        </p:nvCxnSpPr>
        <p:spPr>
          <a:xfrm flipH="1">
            <a:off x="1330989" y="5199112"/>
            <a:ext cx="4454" cy="301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331D5316-2A6F-75D4-8D28-1137DF0DFFAD}"/>
              </a:ext>
            </a:extLst>
          </p:cNvPr>
          <p:cNvSpPr txBox="1"/>
          <p:nvPr/>
        </p:nvSpPr>
        <p:spPr>
          <a:xfrm>
            <a:off x="1294473" y="402390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169" name="CuadroTexto 168">
            <a:extLst>
              <a:ext uri="{FF2B5EF4-FFF2-40B4-BE49-F238E27FC236}">
                <a16:creationId xmlns:a16="http://schemas.microsoft.com/office/drawing/2014/main" id="{8E5E088C-1ADB-F410-AC44-F82AC5EC84F4}"/>
              </a:ext>
            </a:extLst>
          </p:cNvPr>
          <p:cNvSpPr txBox="1"/>
          <p:nvPr/>
        </p:nvSpPr>
        <p:spPr>
          <a:xfrm>
            <a:off x="1324013" y="516425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2467612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168</Words>
  <Application>Microsoft Office PowerPoint</Application>
  <PresentationFormat>Panorámica</PresentationFormat>
  <Paragraphs>60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39</cp:revision>
  <dcterms:created xsi:type="dcterms:W3CDTF">2026-10-20T16:43:21Z</dcterms:created>
  <dcterms:modified xsi:type="dcterms:W3CDTF">2026-10-21T16:57:07Z</dcterms:modified>
</cp:coreProperties>
</file>