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71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62" d="100"/>
        <a:sy n="16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2F9BC-1394-BACF-0072-21DA068F3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5BED04-BC95-78F3-BF20-0FD2F14B0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38F27B-AD33-7985-282D-C6CE36E22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63B47F-3842-6655-DF1D-E2AA0F959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780380-3523-5D55-744C-C7CACF0A7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4654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C4907-AD46-9908-E2C2-EB4B0FE77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68B083-2D78-46DF-70F3-782A851F9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3D1F8A-3465-FFB2-A147-072DB5A79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5F73B-8296-43E8-8991-DD0C4ABE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FC30F5-734D-0577-A7B4-7E88BDD8E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242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A3A5F-329B-AF89-AD9E-B3C3A1D68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C0B47C-8093-0D6F-D408-0C09B3EC8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DD02F0-4381-00D1-5347-76766B00F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9FF7D0-D22B-BC95-20F8-FFBF4E9BE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A048DF-DC93-D3E6-2F30-439BAD892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4928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33F5F-1780-14CD-C39F-182A1116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5A3FC1-062E-DBA1-AD92-D580854E6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B3F327-8003-33F0-81BB-10EC3DF3A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E63D31-B712-3C02-33D8-300C6F44D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9FFB87-430A-3430-C686-501B36AC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E05FBE-5D92-A8F0-CB9C-062880DA6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1727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557B6-1F60-2DB9-3046-AD44A644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404D2A-3F07-E069-9A7B-A847A867E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99D04A-319B-723C-8094-BCC95A3D2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1E7524F-3F22-FD01-1607-CB794CEC1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6D0E400-DCD3-BCAC-8694-D74A8AC833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449C723-6D95-94B4-5376-195DD680F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EFD44F0-FCCF-0EDC-4FD5-AD5EC3158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7F0B4E8-5686-009B-0AB7-8DC31F72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1058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02EBD-AF31-283C-9544-314506045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A651E5F-F660-D818-DE45-CEEDFC7B7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16DFDBD-1376-C7D8-19D6-C5A3F786C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8722672-3E3C-2039-4E4D-0394428AC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8490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185818-D08B-77D4-64C6-2FAD109AB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0212A45-2350-F419-10D2-5D0E4C81B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94D417-24F0-1A9E-9EA4-50519F418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715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E23EC-6205-B63C-A564-7628BB35D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B2D42D-3A26-ACAC-A292-8BF191C81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B0A9CD-2E11-6630-60F4-B9E11E376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18C644-4791-C4A5-B4DD-838D45651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3BE083-C7D1-905F-B4F9-5376784A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51EDA2-00D4-127B-CCC5-208EF7E04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1428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8F107-BB3B-6879-AC6B-F1CED8B3F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8A6CB89-508C-1BA9-A87C-B437EBD85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C5DE93-5247-6E50-A566-5A7914D96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80C11A-E7AB-5E7A-4002-21C777B24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F183AA-77B5-0147-65A6-88D1098EB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4F2D6E-3067-5F4C-04D5-1B31480A6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027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A3A77-1160-C488-0937-FD81A7C65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93EF2C7-4FF5-3496-D470-3C1A4D8C1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13D24D-9E84-9872-E5DB-FBC0E6F77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572285-D4D7-BC3A-3384-3670B36C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E15675-759B-6FC7-E59B-618D9E7C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842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2783701-BAF6-172D-175A-47B4A8A438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420D5C-FD44-1D8A-8A71-B2A6C5FCE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516C0E-D59E-8AF2-508E-752FA0C3B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439AD1-80FF-9744-1A50-3DFABD591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CD37EB-AE05-D6BC-7A1D-F303B41CD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9387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35A8B21-40C3-E61D-6A49-C921EB1F4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ED075C-7406-AB24-899E-A2DD79785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9848CF-3761-FCC8-8ED8-BF96C70AF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5FB29-6D47-431C-AFF2-ED618F7FC495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5CF5B8-4A00-26BF-D192-DC61B09E3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BF5710-6E57-55BE-D240-71D242141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541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23278C9-76DD-BE6D-8753-5DFFB3E40435}"/>
              </a:ext>
            </a:extLst>
          </p:cNvPr>
          <p:cNvSpPr/>
          <p:nvPr/>
        </p:nvSpPr>
        <p:spPr>
          <a:xfrm>
            <a:off x="423594" y="398599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TIPO_VIA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F09001B-6677-3708-EF73-923338E065CE}"/>
              </a:ext>
            </a:extLst>
          </p:cNvPr>
          <p:cNvSpPr/>
          <p:nvPr/>
        </p:nvSpPr>
        <p:spPr>
          <a:xfrm>
            <a:off x="427007" y="3116650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/>
              <a:t>TRAMO</a:t>
            </a:r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B0B9A53-B711-735D-BB56-DEB795B18A05}"/>
              </a:ext>
            </a:extLst>
          </p:cNvPr>
          <p:cNvSpPr/>
          <p:nvPr/>
        </p:nvSpPr>
        <p:spPr>
          <a:xfrm>
            <a:off x="9650778" y="1714534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NIVEL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6230C08-F2B8-8EA8-2286-E946E5FEAE29}"/>
              </a:ext>
            </a:extLst>
          </p:cNvPr>
          <p:cNvSpPr/>
          <p:nvPr/>
        </p:nvSpPr>
        <p:spPr>
          <a:xfrm>
            <a:off x="9607458" y="443446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TITULARIDAD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15F730A-3382-2AF7-0890-08604E34B20D}"/>
              </a:ext>
            </a:extLst>
          </p:cNvPr>
          <p:cNvSpPr/>
          <p:nvPr/>
        </p:nvSpPr>
        <p:spPr>
          <a:xfrm>
            <a:off x="5194536" y="397313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CARRETERA (origen)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1B112DA-756D-4969-DFDE-3801D79E0DB0}"/>
              </a:ext>
            </a:extLst>
          </p:cNvPr>
          <p:cNvSpPr/>
          <p:nvPr/>
        </p:nvSpPr>
        <p:spPr>
          <a:xfrm>
            <a:off x="5194535" y="3078484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/>
              <a:t>PROVINCIA</a:t>
            </a:r>
            <a:endParaRPr lang="es-ES" dirty="0"/>
          </a:p>
        </p:txBody>
      </p:sp>
      <p:sp>
        <p:nvSpPr>
          <p:cNvPr id="12" name="Diagrama de flujo: decisión 11">
            <a:extLst>
              <a:ext uri="{FF2B5EF4-FFF2-40B4-BE49-F238E27FC236}">
                <a16:creationId xmlns:a16="http://schemas.microsoft.com/office/drawing/2014/main" id="{0335EA25-C75E-8267-0DAF-59BD2E9ECBE9}"/>
              </a:ext>
            </a:extLst>
          </p:cNvPr>
          <p:cNvSpPr/>
          <p:nvPr/>
        </p:nvSpPr>
        <p:spPr>
          <a:xfrm>
            <a:off x="2747945" y="3028120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400" dirty="0" err="1">
                <a:solidFill>
                  <a:schemeClr val="tx1"/>
                </a:solidFill>
              </a:rPr>
              <a:t>atraviesa</a:t>
            </a:r>
            <a:endParaRPr lang="es-ES" sz="1400" dirty="0">
              <a:solidFill>
                <a:schemeClr val="tx1"/>
              </a:solidFill>
            </a:endParaRPr>
          </a:p>
        </p:txBody>
      </p:sp>
      <p:sp>
        <p:nvSpPr>
          <p:cNvPr id="14" name="Diagrama de flujo: decisión 13">
            <a:extLst>
              <a:ext uri="{FF2B5EF4-FFF2-40B4-BE49-F238E27FC236}">
                <a16:creationId xmlns:a16="http://schemas.microsoft.com/office/drawing/2014/main" id="{925DF426-B92D-A947-B13E-CC15C0DD74BD}"/>
              </a:ext>
            </a:extLst>
          </p:cNvPr>
          <p:cNvSpPr/>
          <p:nvPr/>
        </p:nvSpPr>
        <p:spPr>
          <a:xfrm>
            <a:off x="7400997" y="342719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400" dirty="0" err="1">
                <a:solidFill>
                  <a:schemeClr val="tx1"/>
                </a:solidFill>
              </a:rPr>
              <a:t>tiene</a:t>
            </a:r>
            <a:endParaRPr lang="es-ES" sz="1400" dirty="0">
              <a:solidFill>
                <a:schemeClr val="tx1"/>
              </a:solidFill>
            </a:endParaRPr>
          </a:p>
        </p:txBody>
      </p:sp>
      <p:sp>
        <p:nvSpPr>
          <p:cNvPr id="15" name="Diagrama de flujo: decisión 14">
            <a:extLst>
              <a:ext uri="{FF2B5EF4-FFF2-40B4-BE49-F238E27FC236}">
                <a16:creationId xmlns:a16="http://schemas.microsoft.com/office/drawing/2014/main" id="{B77F0EC7-DCC7-B3BF-3341-C672CD363585}"/>
              </a:ext>
            </a:extLst>
          </p:cNvPr>
          <p:cNvSpPr/>
          <p:nvPr/>
        </p:nvSpPr>
        <p:spPr>
          <a:xfrm>
            <a:off x="7379537" y="1766994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400" dirty="0" err="1">
                <a:solidFill>
                  <a:schemeClr val="tx1"/>
                </a:solidFill>
              </a:rPr>
              <a:t>tiene</a:t>
            </a:r>
            <a:endParaRPr lang="es-ES" sz="1400" dirty="0">
              <a:solidFill>
                <a:schemeClr val="tx1"/>
              </a:solidFill>
            </a:endParaRP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B566A171-12D5-11DD-2159-130196ABE694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227265" y="3505491"/>
            <a:ext cx="520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3FB28C57-D37F-66B0-2C55-71A0A3DBC983}"/>
              </a:ext>
            </a:extLst>
          </p:cNvPr>
          <p:cNvCxnSpPr>
            <a:cxnSpLocks/>
            <a:stCxn id="12" idx="3"/>
            <a:endCxn id="9" idx="1"/>
          </p:cNvCxnSpPr>
          <p:nvPr/>
        </p:nvCxnSpPr>
        <p:spPr>
          <a:xfrm>
            <a:off x="4550866" y="3505491"/>
            <a:ext cx="643669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E1AE7B3-2DC6-D2DD-4873-0EFF518B1EE0}"/>
              </a:ext>
            </a:extLst>
          </p:cNvPr>
          <p:cNvCxnSpPr>
            <a:stCxn id="8" idx="3"/>
          </p:cNvCxnSpPr>
          <p:nvPr/>
        </p:nvCxnSpPr>
        <p:spPr>
          <a:xfrm flipV="1">
            <a:off x="6997457" y="824320"/>
            <a:ext cx="40354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88FC69BE-CC0F-3E44-9037-E903A8E4BEF9}"/>
              </a:ext>
            </a:extLst>
          </p:cNvPr>
          <p:cNvCxnSpPr/>
          <p:nvPr/>
        </p:nvCxnSpPr>
        <p:spPr>
          <a:xfrm flipV="1">
            <a:off x="9226962" y="820090"/>
            <a:ext cx="40354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7358E68-7FF3-521C-6DC5-43C130DA9E0E}"/>
              </a:ext>
            </a:extLst>
          </p:cNvPr>
          <p:cNvSpPr txBox="1"/>
          <p:nvPr/>
        </p:nvSpPr>
        <p:spPr>
          <a:xfrm>
            <a:off x="7025547" y="558510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4073520-FEF5-E2A2-73EF-00470D85FFB4}"/>
              </a:ext>
            </a:extLst>
          </p:cNvPr>
          <p:cNvSpPr txBox="1"/>
          <p:nvPr/>
        </p:nvSpPr>
        <p:spPr>
          <a:xfrm>
            <a:off x="9145835" y="538709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(0,n)</a:t>
            </a:r>
            <a:endParaRPr lang="es-ES" sz="10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A21B903-4290-A8E5-0CA1-669CFF707F21}"/>
              </a:ext>
            </a:extLst>
          </p:cNvPr>
          <p:cNvSpPr txBox="1"/>
          <p:nvPr/>
        </p:nvSpPr>
        <p:spPr>
          <a:xfrm>
            <a:off x="4512747" y="3255107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(0,n)</a:t>
            </a:r>
            <a:endParaRPr lang="es-ES" sz="10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DC285FF-5666-9E48-385B-49F151AFA7F4}"/>
              </a:ext>
            </a:extLst>
          </p:cNvPr>
          <p:cNvSpPr txBox="1"/>
          <p:nvPr/>
        </p:nvSpPr>
        <p:spPr>
          <a:xfrm>
            <a:off x="2227265" y="3219596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(1,n)</a:t>
            </a:r>
            <a:endParaRPr lang="es-ES" sz="1000" dirty="0"/>
          </a:p>
        </p:txBody>
      </p:sp>
      <p:sp>
        <p:nvSpPr>
          <p:cNvPr id="67" name="Diagrama de flujo: decisión 66">
            <a:extLst>
              <a:ext uri="{FF2B5EF4-FFF2-40B4-BE49-F238E27FC236}">
                <a16:creationId xmlns:a16="http://schemas.microsoft.com/office/drawing/2014/main" id="{34169AA9-47CF-0C95-9A76-F7EEF78D23A1}"/>
              </a:ext>
            </a:extLst>
          </p:cNvPr>
          <p:cNvSpPr/>
          <p:nvPr/>
        </p:nvSpPr>
        <p:spPr>
          <a:xfrm>
            <a:off x="2795439" y="358098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400" dirty="0" err="1">
                <a:solidFill>
                  <a:schemeClr val="tx1"/>
                </a:solidFill>
              </a:rPr>
              <a:t>tiene</a:t>
            </a:r>
            <a:endParaRPr lang="es-ES" sz="1400" dirty="0">
              <a:solidFill>
                <a:schemeClr val="tx1"/>
              </a:solidFill>
            </a:endParaRPr>
          </a:p>
        </p:txBody>
      </p: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F370F880-600B-3FD2-7F19-E49DEBC1C162}"/>
              </a:ext>
            </a:extLst>
          </p:cNvPr>
          <p:cNvCxnSpPr>
            <a:cxnSpLocks/>
            <a:stCxn id="4" idx="3"/>
            <a:endCxn id="67" idx="1"/>
          </p:cNvCxnSpPr>
          <p:nvPr/>
        </p:nvCxnSpPr>
        <p:spPr>
          <a:xfrm>
            <a:off x="2226515" y="825607"/>
            <a:ext cx="568924" cy="98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08EFED2F-516E-E46A-8173-65740D7F9CAE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4598360" y="824321"/>
            <a:ext cx="596176" cy="111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ángulo 89">
            <a:extLst>
              <a:ext uri="{FF2B5EF4-FFF2-40B4-BE49-F238E27FC236}">
                <a16:creationId xmlns:a16="http://schemas.microsoft.com/office/drawing/2014/main" id="{720BB9E0-70CF-6676-E224-FF0804FD9DB1}"/>
              </a:ext>
            </a:extLst>
          </p:cNvPr>
          <p:cNvSpPr/>
          <p:nvPr/>
        </p:nvSpPr>
        <p:spPr>
          <a:xfrm>
            <a:off x="5175333" y="5395321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COMUNIDAD AUTÓNOMA</a:t>
            </a:r>
          </a:p>
        </p:txBody>
      </p:sp>
      <p:sp>
        <p:nvSpPr>
          <p:cNvPr id="92" name="Diagrama de flujo: decisión 91">
            <a:extLst>
              <a:ext uri="{FF2B5EF4-FFF2-40B4-BE49-F238E27FC236}">
                <a16:creationId xmlns:a16="http://schemas.microsoft.com/office/drawing/2014/main" id="{02140C13-2F3B-B368-36DB-DD2435EFAD33}"/>
              </a:ext>
            </a:extLst>
          </p:cNvPr>
          <p:cNvSpPr/>
          <p:nvPr/>
        </p:nvSpPr>
        <p:spPr>
          <a:xfrm>
            <a:off x="5174292" y="4256553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050" dirty="0">
                <a:solidFill>
                  <a:schemeClr val="tx1"/>
                </a:solidFill>
              </a:rPr>
              <a:t>PERTENECE</a:t>
            </a:r>
            <a:endParaRPr lang="es-ES" sz="1050" dirty="0">
              <a:solidFill>
                <a:schemeClr val="tx1"/>
              </a:solidFill>
            </a:endParaRPr>
          </a:p>
        </p:txBody>
      </p:sp>
      <p:sp>
        <p:nvSpPr>
          <p:cNvPr id="112" name="Diagrama de flujo: decisión 111">
            <a:extLst>
              <a:ext uri="{FF2B5EF4-FFF2-40B4-BE49-F238E27FC236}">
                <a16:creationId xmlns:a16="http://schemas.microsoft.com/office/drawing/2014/main" id="{A3184ABF-B943-D6A4-AADE-5345A820EF9D}"/>
              </a:ext>
            </a:extLst>
          </p:cNvPr>
          <p:cNvSpPr/>
          <p:nvPr/>
        </p:nvSpPr>
        <p:spPr>
          <a:xfrm>
            <a:off x="7390875" y="3020646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400" dirty="0" err="1">
                <a:solidFill>
                  <a:schemeClr val="tx1"/>
                </a:solidFill>
              </a:rPr>
              <a:t>puede</a:t>
            </a:r>
            <a:r>
              <a:rPr lang="ca-ES" sz="1400" dirty="0">
                <a:solidFill>
                  <a:schemeClr val="tx1"/>
                </a:solidFill>
              </a:rPr>
              <a:t> </a:t>
            </a:r>
            <a:r>
              <a:rPr lang="ca-ES" sz="1400" dirty="0" err="1">
                <a:solidFill>
                  <a:schemeClr val="tx1"/>
                </a:solidFill>
              </a:rPr>
              <a:t>concluir</a:t>
            </a:r>
            <a:r>
              <a:rPr lang="ca-ES" sz="1400" dirty="0">
                <a:solidFill>
                  <a:schemeClr val="tx1"/>
                </a:solidFill>
              </a:rPr>
              <a:t> en</a:t>
            </a:r>
            <a:endParaRPr lang="es-ES" sz="1400" dirty="0">
              <a:solidFill>
                <a:schemeClr val="tx1"/>
              </a:solidFill>
            </a:endParaRPr>
          </a:p>
        </p:txBody>
      </p: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74D99D95-F877-5D78-E6FF-69E29BD19B6C}"/>
              </a:ext>
            </a:extLst>
          </p:cNvPr>
          <p:cNvSpPr txBox="1"/>
          <p:nvPr/>
        </p:nvSpPr>
        <p:spPr>
          <a:xfrm>
            <a:off x="2298777" y="584407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(0,n)</a:t>
            </a:r>
            <a:endParaRPr lang="es-ES" sz="1000" dirty="0"/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D68DB997-1EC6-8D2D-0395-960E0BD9EE90}"/>
              </a:ext>
            </a:extLst>
          </p:cNvPr>
          <p:cNvSpPr txBox="1"/>
          <p:nvPr/>
        </p:nvSpPr>
        <p:spPr>
          <a:xfrm>
            <a:off x="4602315" y="573869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D3FE5BC9-3B82-33F3-34E5-300C3E68E345}"/>
              </a:ext>
            </a:extLst>
          </p:cNvPr>
          <p:cNvSpPr txBox="1"/>
          <p:nvPr/>
        </p:nvSpPr>
        <p:spPr>
          <a:xfrm>
            <a:off x="7563222" y="1452517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(0,1)</a:t>
            </a:r>
            <a:endParaRPr lang="es-ES" sz="1000" dirty="0"/>
          </a:p>
        </p:txBody>
      </p:sp>
      <p:cxnSp>
        <p:nvCxnSpPr>
          <p:cNvPr id="163" name="Conector recto 162">
            <a:extLst>
              <a:ext uri="{FF2B5EF4-FFF2-40B4-BE49-F238E27FC236}">
                <a16:creationId xmlns:a16="http://schemas.microsoft.com/office/drawing/2014/main" id="{808F54B2-2DEF-58B1-85F4-396B8821DB38}"/>
              </a:ext>
            </a:extLst>
          </p:cNvPr>
          <p:cNvCxnSpPr>
            <a:cxnSpLocks/>
            <a:endCxn id="92" idx="0"/>
          </p:cNvCxnSpPr>
          <p:nvPr/>
        </p:nvCxnSpPr>
        <p:spPr>
          <a:xfrm flipH="1">
            <a:off x="6075753" y="3955515"/>
            <a:ext cx="4454" cy="301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ector recto 166">
            <a:extLst>
              <a:ext uri="{FF2B5EF4-FFF2-40B4-BE49-F238E27FC236}">
                <a16:creationId xmlns:a16="http://schemas.microsoft.com/office/drawing/2014/main" id="{470BB7E6-C0BF-989F-6273-E4B711C0127C}"/>
              </a:ext>
            </a:extLst>
          </p:cNvPr>
          <p:cNvCxnSpPr>
            <a:cxnSpLocks/>
          </p:cNvCxnSpPr>
          <p:nvPr/>
        </p:nvCxnSpPr>
        <p:spPr>
          <a:xfrm flipH="1">
            <a:off x="6082728" y="5183962"/>
            <a:ext cx="4454" cy="301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CuadroTexto 167">
            <a:extLst>
              <a:ext uri="{FF2B5EF4-FFF2-40B4-BE49-F238E27FC236}">
                <a16:creationId xmlns:a16="http://schemas.microsoft.com/office/drawing/2014/main" id="{331D5316-2A6F-75D4-8D28-1137DF0DFFAD}"/>
              </a:ext>
            </a:extLst>
          </p:cNvPr>
          <p:cNvSpPr txBox="1"/>
          <p:nvPr/>
        </p:nvSpPr>
        <p:spPr>
          <a:xfrm>
            <a:off x="6046212" y="4008759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  <p:sp>
        <p:nvSpPr>
          <p:cNvPr id="169" name="CuadroTexto 168">
            <a:extLst>
              <a:ext uri="{FF2B5EF4-FFF2-40B4-BE49-F238E27FC236}">
                <a16:creationId xmlns:a16="http://schemas.microsoft.com/office/drawing/2014/main" id="{8E5E088C-1ADB-F410-AC44-F82AC5EC84F4}"/>
              </a:ext>
            </a:extLst>
          </p:cNvPr>
          <p:cNvSpPr txBox="1"/>
          <p:nvPr/>
        </p:nvSpPr>
        <p:spPr>
          <a:xfrm>
            <a:off x="6075752" y="5149100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(1,n)</a:t>
            </a:r>
            <a:endParaRPr lang="es-ES" sz="1000" dirty="0"/>
          </a:p>
        </p:txBody>
      </p:sp>
      <p:sp>
        <p:nvSpPr>
          <p:cNvPr id="173" name="Rectángulo 172">
            <a:extLst>
              <a:ext uri="{FF2B5EF4-FFF2-40B4-BE49-F238E27FC236}">
                <a16:creationId xmlns:a16="http://schemas.microsoft.com/office/drawing/2014/main" id="{21B551C3-9CAC-DDFE-3FFB-225FB66102EB}"/>
              </a:ext>
            </a:extLst>
          </p:cNvPr>
          <p:cNvSpPr/>
          <p:nvPr/>
        </p:nvSpPr>
        <p:spPr>
          <a:xfrm>
            <a:off x="9693928" y="5374761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CONFLUYENCIA</a:t>
            </a:r>
          </a:p>
        </p:txBody>
      </p:sp>
      <p:sp>
        <p:nvSpPr>
          <p:cNvPr id="174" name="CuadroTexto 173">
            <a:extLst>
              <a:ext uri="{FF2B5EF4-FFF2-40B4-BE49-F238E27FC236}">
                <a16:creationId xmlns:a16="http://schemas.microsoft.com/office/drawing/2014/main" id="{0543BA2C-2716-6907-7CC9-CB12BDC7E8E4}"/>
              </a:ext>
            </a:extLst>
          </p:cNvPr>
          <p:cNvSpPr txBox="1"/>
          <p:nvPr/>
        </p:nvSpPr>
        <p:spPr>
          <a:xfrm>
            <a:off x="350868" y="1243519"/>
            <a:ext cx="17220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accent1">
                    <a:lumMod val="75000"/>
                  </a:schemeClr>
                </a:solidFill>
              </a:rPr>
              <a:t>ID_TIPO_VIA</a:t>
            </a:r>
          </a:p>
          <a:p>
            <a:r>
              <a:rPr lang="es-ES" sz="1000" dirty="0"/>
              <a:t>Autopista</a:t>
            </a:r>
          </a:p>
          <a:p>
            <a:r>
              <a:rPr lang="es-ES" sz="1000" dirty="0"/>
              <a:t>Autovía</a:t>
            </a:r>
          </a:p>
          <a:p>
            <a:r>
              <a:rPr lang="es-ES" sz="1000" dirty="0"/>
              <a:t>Multicarril</a:t>
            </a:r>
          </a:p>
          <a:p>
            <a:r>
              <a:rPr lang="es-ES" sz="1000" dirty="0"/>
              <a:t>Convencional (criterio físico/constructivo)</a:t>
            </a:r>
          </a:p>
        </p:txBody>
      </p:sp>
      <p:sp>
        <p:nvSpPr>
          <p:cNvPr id="175" name="CuadroTexto 174">
            <a:extLst>
              <a:ext uri="{FF2B5EF4-FFF2-40B4-BE49-F238E27FC236}">
                <a16:creationId xmlns:a16="http://schemas.microsoft.com/office/drawing/2014/main" id="{281B76C5-5355-33B2-15E5-616C770CDEAA}"/>
              </a:ext>
            </a:extLst>
          </p:cNvPr>
          <p:cNvSpPr txBox="1"/>
          <p:nvPr/>
        </p:nvSpPr>
        <p:spPr>
          <a:xfrm>
            <a:off x="6043466" y="1271485"/>
            <a:ext cx="124203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accent1">
                    <a:lumMod val="75000"/>
                  </a:schemeClr>
                </a:solidFill>
              </a:rPr>
              <a:t>CÓD_CARRETERA </a:t>
            </a:r>
          </a:p>
          <a:p>
            <a:r>
              <a:rPr lang="es-ES" sz="1000" dirty="0"/>
              <a:t>Nombre</a:t>
            </a:r>
          </a:p>
          <a:p>
            <a:r>
              <a:rPr lang="es-ES" sz="1000" dirty="0"/>
              <a:t>Titularidad</a:t>
            </a:r>
          </a:p>
          <a:p>
            <a:r>
              <a:rPr lang="es-ES" sz="1000" dirty="0"/>
              <a:t>Nivel</a:t>
            </a:r>
          </a:p>
          <a:p>
            <a:r>
              <a:rPr lang="es-ES" sz="1000" dirty="0"/>
              <a:t>Tipo de Vía</a:t>
            </a:r>
          </a:p>
          <a:p>
            <a:r>
              <a:rPr lang="es-ES" sz="1000" dirty="0"/>
              <a:t>Acceso controlado</a:t>
            </a:r>
          </a:p>
          <a:p>
            <a:r>
              <a:rPr lang="es-ES" sz="1000" dirty="0"/>
              <a:t>Doble calzada </a:t>
            </a:r>
          </a:p>
          <a:p>
            <a:r>
              <a:rPr lang="es-ES" sz="1000" dirty="0"/>
              <a:t>Prefijo</a:t>
            </a:r>
          </a:p>
          <a:p>
            <a:r>
              <a:rPr lang="es-ES" sz="1000" dirty="0"/>
              <a:t>Color</a:t>
            </a:r>
          </a:p>
          <a:p>
            <a:r>
              <a:rPr lang="es-ES" sz="1000" dirty="0"/>
              <a:t>Señal</a:t>
            </a:r>
          </a:p>
          <a:p>
            <a:r>
              <a:rPr lang="es-ES" sz="1000" dirty="0"/>
              <a:t>Observaciones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D9FFAF6-8E81-D2ED-ED2B-29503A861607}"/>
              </a:ext>
            </a:extLst>
          </p:cNvPr>
          <p:cNvSpPr txBox="1"/>
          <p:nvPr/>
        </p:nvSpPr>
        <p:spPr>
          <a:xfrm>
            <a:off x="8438074" y="1041341"/>
            <a:ext cx="12420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b="1" dirty="0">
                <a:solidFill>
                  <a:schemeClr val="accent1">
                    <a:lumMod val="75000"/>
                  </a:schemeClr>
                </a:solidFill>
              </a:rPr>
              <a:t>ID_TITULARIDAD</a:t>
            </a:r>
          </a:p>
          <a:p>
            <a:pPr algn="r"/>
            <a:r>
              <a:rPr lang="es-ES" sz="1000" dirty="0"/>
              <a:t>Nombre</a:t>
            </a:r>
          </a:p>
          <a:p>
            <a:pPr algn="r"/>
            <a:r>
              <a:rPr lang="pt-BR" sz="1000" dirty="0"/>
              <a:t>(Estatal, Autonómica, Provincial o Municipal)</a:t>
            </a:r>
            <a:endParaRPr lang="es-ES" sz="1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97E4119-4C8F-E936-1A07-E7D3B1947A31}"/>
              </a:ext>
            </a:extLst>
          </p:cNvPr>
          <p:cNvSpPr txBox="1"/>
          <p:nvPr/>
        </p:nvSpPr>
        <p:spPr>
          <a:xfrm>
            <a:off x="10347018" y="2551657"/>
            <a:ext cx="1242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b="1" dirty="0">
                <a:solidFill>
                  <a:schemeClr val="accent1">
                    <a:lumMod val="75000"/>
                  </a:schemeClr>
                </a:solidFill>
              </a:rPr>
              <a:t>ID_NIVEL</a:t>
            </a:r>
          </a:p>
          <a:p>
            <a:pPr algn="r"/>
            <a:r>
              <a:rPr lang="ca-ES" sz="1000" dirty="0" err="1"/>
              <a:t>Nivel</a:t>
            </a:r>
            <a:r>
              <a:rPr lang="ca-ES" sz="1000" dirty="0"/>
              <a:t> (1,2,3)</a:t>
            </a:r>
          </a:p>
          <a:p>
            <a:pPr algn="r"/>
            <a:r>
              <a:rPr lang="ca-ES" sz="1000" dirty="0"/>
              <a:t>Color(</a:t>
            </a:r>
            <a:r>
              <a:rPr lang="es-ES" sz="1000" dirty="0"/>
              <a:t>naranja</a:t>
            </a:r>
            <a:r>
              <a:rPr lang="ca-ES" sz="1000" dirty="0"/>
              <a:t>, </a:t>
            </a:r>
            <a:r>
              <a:rPr lang="es-ES" sz="1000" dirty="0"/>
              <a:t>verde</a:t>
            </a:r>
            <a:r>
              <a:rPr lang="ca-ES" sz="1000" dirty="0"/>
              <a:t>, </a:t>
            </a:r>
            <a:r>
              <a:rPr lang="es-ES" sz="1000" dirty="0"/>
              <a:t>amarillo</a:t>
            </a:r>
            <a:r>
              <a:rPr lang="ca-ES" sz="1000" dirty="0"/>
              <a:t>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326CA30-6B30-DD18-8D3A-F5315C54165B}"/>
              </a:ext>
            </a:extLst>
          </p:cNvPr>
          <p:cNvSpPr txBox="1"/>
          <p:nvPr/>
        </p:nvSpPr>
        <p:spPr>
          <a:xfrm>
            <a:off x="364517" y="3981535"/>
            <a:ext cx="177370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accent1">
                    <a:lumMod val="75000"/>
                  </a:schemeClr>
                </a:solidFill>
              </a:rPr>
              <a:t>ID_TRAMO</a:t>
            </a:r>
          </a:p>
          <a:p>
            <a:r>
              <a:rPr lang="es-ES" sz="1000" dirty="0" err="1"/>
              <a:t>Km_inicial</a:t>
            </a:r>
            <a:endParaRPr lang="es-ES" sz="1000" dirty="0"/>
          </a:p>
          <a:p>
            <a:r>
              <a:rPr lang="es-ES" sz="1000" dirty="0" err="1"/>
              <a:t>Km_final</a:t>
            </a:r>
            <a:r>
              <a:rPr lang="es-ES" sz="1000" dirty="0"/>
              <a:t>,</a:t>
            </a:r>
          </a:p>
          <a:p>
            <a:r>
              <a:rPr lang="es-ES" sz="1000" dirty="0"/>
              <a:t>Longitud</a:t>
            </a:r>
          </a:p>
          <a:p>
            <a:r>
              <a:rPr lang="es-ES" sz="1000" dirty="0" err="1"/>
              <a:t>Tipo_terreno</a:t>
            </a:r>
            <a:r>
              <a:rPr lang="es-ES" sz="1000" dirty="0"/>
              <a:t> (Plano / Cuesta subida / Cuesta bajada)</a:t>
            </a:r>
          </a:p>
          <a:p>
            <a:r>
              <a:rPr lang="es-ES" sz="1000" dirty="0"/>
              <a:t>entorno (Urbano / Travesía / Extraurbano)</a:t>
            </a:r>
          </a:p>
          <a:p>
            <a:r>
              <a:rPr lang="es-ES" sz="1000" dirty="0" err="1"/>
              <a:t>Velocidad_límite</a:t>
            </a:r>
            <a:r>
              <a:rPr lang="es-ES" sz="1000" dirty="0"/>
              <a:t>, </a:t>
            </a:r>
            <a:r>
              <a:rPr lang="es-ES" sz="1000" dirty="0" err="1"/>
              <a:t>Número_carriles_sentido</a:t>
            </a:r>
            <a:r>
              <a:rPr lang="es-ES" sz="1000" dirty="0"/>
              <a:t> </a:t>
            </a:r>
            <a:r>
              <a:rPr lang="es-ES" sz="1000" dirty="0" err="1"/>
              <a:t>observaciones_adicionales</a:t>
            </a:r>
            <a:r>
              <a:rPr lang="es-ES" sz="1000" dirty="0"/>
              <a:t> (ejemplo, curva peligrosa)</a:t>
            </a:r>
          </a:p>
          <a:p>
            <a:r>
              <a:rPr lang="es-ES" sz="1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CÓD_CARRETERA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AC44192-F193-50D6-1154-7809DE8DC58D}"/>
              </a:ext>
            </a:extLst>
          </p:cNvPr>
          <p:cNvSpPr txBox="1"/>
          <p:nvPr/>
        </p:nvSpPr>
        <p:spPr>
          <a:xfrm>
            <a:off x="4451004" y="3919367"/>
            <a:ext cx="17220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accent1">
                    <a:lumMod val="75000"/>
                  </a:schemeClr>
                </a:solidFill>
              </a:rPr>
              <a:t>ID_PROVINCIA</a:t>
            </a:r>
          </a:p>
          <a:p>
            <a:r>
              <a:rPr lang="es-ES" sz="1000" dirty="0"/>
              <a:t>Nombre</a:t>
            </a:r>
          </a:p>
          <a:p>
            <a:r>
              <a:rPr lang="es-ES" sz="1000" dirty="0"/>
              <a:t>Comunidad autónoma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69AD93A-73B0-06A0-751B-25A08DF1A044}"/>
              </a:ext>
            </a:extLst>
          </p:cNvPr>
          <p:cNvSpPr txBox="1"/>
          <p:nvPr/>
        </p:nvSpPr>
        <p:spPr>
          <a:xfrm>
            <a:off x="5959578" y="6200507"/>
            <a:ext cx="21319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accent1">
                    <a:lumMod val="75000"/>
                  </a:schemeClr>
                </a:solidFill>
              </a:rPr>
              <a:t>ID_COMUNIDAD AUTÓNOMA</a:t>
            </a:r>
          </a:p>
          <a:p>
            <a:r>
              <a:rPr lang="es-ES" sz="1000" dirty="0"/>
              <a:t>Nombre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F760067-99C1-BA3A-7429-C212B6AE10D1}"/>
              </a:ext>
            </a:extLst>
          </p:cNvPr>
          <p:cNvSpPr txBox="1"/>
          <p:nvPr/>
        </p:nvSpPr>
        <p:spPr>
          <a:xfrm>
            <a:off x="8252561" y="5754580"/>
            <a:ext cx="14962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b="1" dirty="0">
                <a:solidFill>
                  <a:schemeClr val="accent1">
                    <a:lumMod val="75000"/>
                  </a:schemeClr>
                </a:solidFill>
              </a:rPr>
              <a:t>ID_CONFLUYENCIA</a:t>
            </a:r>
          </a:p>
          <a:p>
            <a:pPr algn="r"/>
            <a:r>
              <a:rPr lang="es-ES" sz="1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ID_TRAMO</a:t>
            </a:r>
          </a:p>
          <a:p>
            <a:pPr algn="r"/>
            <a:r>
              <a:rPr lang="es-ES" sz="1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CÓD_CARRETERA </a:t>
            </a:r>
          </a:p>
          <a:p>
            <a:pPr algn="r"/>
            <a:r>
              <a:rPr lang="es-ES" sz="1000" dirty="0"/>
              <a:t>Kilómetro</a:t>
            </a:r>
          </a:p>
          <a:p>
            <a:pPr algn="r"/>
            <a:r>
              <a:rPr lang="es-ES" sz="1000" dirty="0"/>
              <a:t>Tramo</a:t>
            </a:r>
          </a:p>
          <a:p>
            <a:pPr algn="r"/>
            <a:r>
              <a:rPr lang="es-ES" sz="1000" dirty="0"/>
              <a:t>Provincia</a:t>
            </a:r>
          </a:p>
        </p:txBody>
      </p:sp>
      <p:sp>
        <p:nvSpPr>
          <p:cNvPr id="17" name="Diagrama de flujo: decisión 16">
            <a:extLst>
              <a:ext uri="{FF2B5EF4-FFF2-40B4-BE49-F238E27FC236}">
                <a16:creationId xmlns:a16="http://schemas.microsoft.com/office/drawing/2014/main" id="{F7950F97-8BC4-4207-1D5C-7B734CAA3E56}"/>
              </a:ext>
            </a:extLst>
          </p:cNvPr>
          <p:cNvSpPr/>
          <p:nvPr/>
        </p:nvSpPr>
        <p:spPr>
          <a:xfrm>
            <a:off x="2078706" y="2094991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400" dirty="0">
                <a:solidFill>
                  <a:schemeClr val="tx1"/>
                </a:solidFill>
              </a:rPr>
              <a:t>se </a:t>
            </a:r>
            <a:r>
              <a:rPr lang="ca-ES" sz="1400" dirty="0" err="1">
                <a:solidFill>
                  <a:schemeClr val="tx1"/>
                </a:solidFill>
              </a:rPr>
              <a:t>divide</a:t>
            </a:r>
            <a:r>
              <a:rPr lang="ca-ES" sz="1400" dirty="0">
                <a:solidFill>
                  <a:schemeClr val="tx1"/>
                </a:solidFill>
              </a:rPr>
              <a:t> en </a:t>
            </a:r>
            <a:endParaRPr lang="es-ES" sz="1400" dirty="0">
              <a:solidFill>
                <a:schemeClr val="tx1"/>
              </a:solidFill>
            </a:endParaRP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A941702D-AAE4-5E76-9A06-F6CCA19A5173}"/>
              </a:ext>
            </a:extLst>
          </p:cNvPr>
          <p:cNvCxnSpPr>
            <a:cxnSpLocks/>
          </p:cNvCxnSpPr>
          <p:nvPr/>
        </p:nvCxnSpPr>
        <p:spPr>
          <a:xfrm>
            <a:off x="3844344" y="2572362"/>
            <a:ext cx="22516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ABE07B54-51B3-E133-660C-2A674E5C07BB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6095995" y="1251328"/>
            <a:ext cx="2" cy="13210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657723D7-28D9-CABA-984B-6D51ED423DEB}"/>
              </a:ext>
            </a:extLst>
          </p:cNvPr>
          <p:cNvCxnSpPr>
            <a:stCxn id="17" idx="1"/>
          </p:cNvCxnSpPr>
          <p:nvPr/>
        </p:nvCxnSpPr>
        <p:spPr>
          <a:xfrm flipH="1">
            <a:off x="1324013" y="2572362"/>
            <a:ext cx="7546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8B5C0696-377B-CF20-63F5-DF6902C21072}"/>
              </a:ext>
            </a:extLst>
          </p:cNvPr>
          <p:cNvCxnSpPr>
            <a:endCxn id="5" idx="0"/>
          </p:cNvCxnSpPr>
          <p:nvPr/>
        </p:nvCxnSpPr>
        <p:spPr>
          <a:xfrm flipH="1">
            <a:off x="1328468" y="2572362"/>
            <a:ext cx="2521" cy="5442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F1CB212E-A8C4-6A66-AD25-D3380F70FD24}"/>
              </a:ext>
            </a:extLst>
          </p:cNvPr>
          <p:cNvSpPr txBox="1"/>
          <p:nvPr/>
        </p:nvSpPr>
        <p:spPr>
          <a:xfrm>
            <a:off x="1382806" y="2323163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DB29C690-6364-005F-27FF-A29A3ED4F2F1}"/>
              </a:ext>
            </a:extLst>
          </p:cNvPr>
          <p:cNvSpPr txBox="1"/>
          <p:nvPr/>
        </p:nvSpPr>
        <p:spPr>
          <a:xfrm>
            <a:off x="4659766" y="2310761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(1,N)</a:t>
            </a:r>
            <a:endParaRPr lang="es-ES" sz="1000" dirty="0"/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04F61F3A-54F1-E89E-90B5-7DC9C20BAA6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997457" y="824321"/>
            <a:ext cx="872094" cy="11239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B124F5A-3B60-E396-5D88-5146A35308D3}"/>
              </a:ext>
            </a:extLst>
          </p:cNvPr>
          <p:cNvSpPr txBox="1"/>
          <p:nvPr/>
        </p:nvSpPr>
        <p:spPr>
          <a:xfrm>
            <a:off x="9152766" y="1960323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(0,n)</a:t>
            </a:r>
            <a:endParaRPr lang="es-ES" sz="1000" dirty="0"/>
          </a:p>
        </p:txBody>
      </p: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B83F1824-5740-2EB5-32FC-858A2A1D824B}"/>
              </a:ext>
            </a:extLst>
          </p:cNvPr>
          <p:cNvCxnSpPr>
            <a:stCxn id="15" idx="3"/>
          </p:cNvCxnSpPr>
          <p:nvPr/>
        </p:nvCxnSpPr>
        <p:spPr>
          <a:xfrm>
            <a:off x="9182458" y="2244365"/>
            <a:ext cx="468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ángulo 59">
            <a:extLst>
              <a:ext uri="{FF2B5EF4-FFF2-40B4-BE49-F238E27FC236}">
                <a16:creationId xmlns:a16="http://schemas.microsoft.com/office/drawing/2014/main" id="{C9B9B8EA-9387-081B-1CEC-FC00EF144276}"/>
              </a:ext>
            </a:extLst>
          </p:cNvPr>
          <p:cNvSpPr/>
          <p:nvPr/>
        </p:nvSpPr>
        <p:spPr>
          <a:xfrm>
            <a:off x="7391568" y="4160879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CARRETERA (destino)</a:t>
            </a:r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3C9E97FE-76FF-C9CD-B049-79C828607E60}"/>
              </a:ext>
            </a:extLst>
          </p:cNvPr>
          <p:cNvCxnSpPr>
            <a:stCxn id="8" idx="3"/>
            <a:endCxn id="112" idx="1"/>
          </p:cNvCxnSpPr>
          <p:nvPr/>
        </p:nvCxnSpPr>
        <p:spPr>
          <a:xfrm>
            <a:off x="6997457" y="824321"/>
            <a:ext cx="393418" cy="26736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68BCF1EC-BC4C-6A91-D90C-2FD8FFC74993}"/>
              </a:ext>
            </a:extLst>
          </p:cNvPr>
          <p:cNvCxnSpPr>
            <a:cxnSpLocks/>
            <a:stCxn id="112" idx="2"/>
            <a:endCxn id="60" idx="0"/>
          </p:cNvCxnSpPr>
          <p:nvPr/>
        </p:nvCxnSpPr>
        <p:spPr>
          <a:xfrm>
            <a:off x="8292336" y="3975388"/>
            <a:ext cx="693" cy="185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uadroTexto 80">
            <a:extLst>
              <a:ext uri="{FF2B5EF4-FFF2-40B4-BE49-F238E27FC236}">
                <a16:creationId xmlns:a16="http://schemas.microsoft.com/office/drawing/2014/main" id="{8B3290A4-9C49-EDC9-1E25-917B1BCC7BCF}"/>
              </a:ext>
            </a:extLst>
          </p:cNvPr>
          <p:cNvSpPr txBox="1"/>
          <p:nvPr/>
        </p:nvSpPr>
        <p:spPr>
          <a:xfrm>
            <a:off x="8365423" y="5014894"/>
            <a:ext cx="12420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accent1">
                    <a:lumMod val="75000"/>
                  </a:schemeClr>
                </a:solidFill>
              </a:rPr>
              <a:t>CÓD_CARRETERA 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1115DDA3-CA5D-A139-C100-599435F0D57F}"/>
              </a:ext>
            </a:extLst>
          </p:cNvPr>
          <p:cNvSpPr txBox="1"/>
          <p:nvPr/>
        </p:nvSpPr>
        <p:spPr>
          <a:xfrm>
            <a:off x="7285400" y="2781899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(0,n)</a:t>
            </a:r>
            <a:endParaRPr lang="es-ES" sz="1000" dirty="0"/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1F157F99-1D00-0453-EE12-2EF937EF2F51}"/>
              </a:ext>
            </a:extLst>
          </p:cNvPr>
          <p:cNvSpPr txBox="1"/>
          <p:nvPr/>
        </p:nvSpPr>
        <p:spPr>
          <a:xfrm>
            <a:off x="8292335" y="3922980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(0,n)</a:t>
            </a:r>
            <a:endParaRPr lang="es-ES" sz="1000" dirty="0"/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896B4CB0-6D36-D221-F43D-39767601175B}"/>
              </a:ext>
            </a:extLst>
          </p:cNvPr>
          <p:cNvSpPr txBox="1"/>
          <p:nvPr/>
        </p:nvSpPr>
        <p:spPr>
          <a:xfrm>
            <a:off x="9182938" y="4370449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(0,n)</a:t>
            </a:r>
            <a:endParaRPr lang="es-ES" sz="1000" dirty="0"/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80CC38EC-19BE-00D0-BE48-64D067DD65CF}"/>
              </a:ext>
            </a:extLst>
          </p:cNvPr>
          <p:cNvSpPr txBox="1"/>
          <p:nvPr/>
        </p:nvSpPr>
        <p:spPr>
          <a:xfrm>
            <a:off x="10552238" y="5061327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  <p:sp>
        <p:nvSpPr>
          <p:cNvPr id="19" name="Diagrama de flujo: decisión 18">
            <a:extLst>
              <a:ext uri="{FF2B5EF4-FFF2-40B4-BE49-F238E27FC236}">
                <a16:creationId xmlns:a16="http://schemas.microsoft.com/office/drawing/2014/main" id="{5FEC259A-0D46-DE26-84FC-3CCDBE4AA846}"/>
              </a:ext>
            </a:extLst>
          </p:cNvPr>
          <p:cNvSpPr/>
          <p:nvPr/>
        </p:nvSpPr>
        <p:spPr>
          <a:xfrm>
            <a:off x="2281749" y="5597045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400" dirty="0" err="1">
                <a:solidFill>
                  <a:schemeClr val="tx1"/>
                </a:solidFill>
              </a:rPr>
              <a:t>tiene</a:t>
            </a:r>
            <a:endParaRPr lang="es-ES" sz="1400" dirty="0">
              <a:solidFill>
                <a:schemeClr val="tx1"/>
              </a:solidFill>
            </a:endParaRP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AF03504B-45FD-BC2F-0A19-0623104C8DC9}"/>
              </a:ext>
            </a:extLst>
          </p:cNvPr>
          <p:cNvCxnSpPr>
            <a:endCxn id="19" idx="0"/>
          </p:cNvCxnSpPr>
          <p:nvPr/>
        </p:nvCxnSpPr>
        <p:spPr>
          <a:xfrm>
            <a:off x="2226515" y="3981535"/>
            <a:ext cx="956695" cy="16155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D2EC47E6-442A-1E2A-EEC0-E93FB4460E77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3183210" y="6551787"/>
            <a:ext cx="74121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31A26538-55B3-7C26-150A-1720D5E34690}"/>
              </a:ext>
            </a:extLst>
          </p:cNvPr>
          <p:cNvCxnSpPr>
            <a:stCxn id="173" idx="2"/>
          </p:cNvCxnSpPr>
          <p:nvPr/>
        </p:nvCxnSpPr>
        <p:spPr>
          <a:xfrm flipH="1">
            <a:off x="10595388" y="6228776"/>
            <a:ext cx="1" cy="3230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2DD1960-5520-9492-1971-0323335CF51E}"/>
              </a:ext>
            </a:extLst>
          </p:cNvPr>
          <p:cNvSpPr txBox="1"/>
          <p:nvPr/>
        </p:nvSpPr>
        <p:spPr>
          <a:xfrm>
            <a:off x="2449163" y="4214011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(0,n)</a:t>
            </a:r>
            <a:endParaRPr lang="es-ES" sz="10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94F007A-3569-62BA-F6A4-8C8665605DB9}"/>
              </a:ext>
            </a:extLst>
          </p:cNvPr>
          <p:cNvSpPr txBox="1"/>
          <p:nvPr/>
        </p:nvSpPr>
        <p:spPr>
          <a:xfrm>
            <a:off x="9997215" y="6325780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  <p:sp>
        <p:nvSpPr>
          <p:cNvPr id="39" name="Diagrama de flujo: decisión 38">
            <a:extLst>
              <a:ext uri="{FF2B5EF4-FFF2-40B4-BE49-F238E27FC236}">
                <a16:creationId xmlns:a16="http://schemas.microsoft.com/office/drawing/2014/main" id="{F3A14994-CDA9-2C69-3D62-65C5812D4550}"/>
              </a:ext>
            </a:extLst>
          </p:cNvPr>
          <p:cNvSpPr/>
          <p:nvPr/>
        </p:nvSpPr>
        <p:spPr>
          <a:xfrm>
            <a:off x="9691093" y="4106586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400" dirty="0">
                <a:solidFill>
                  <a:schemeClr val="tx1"/>
                </a:solidFill>
              </a:rPr>
              <a:t>Es destino de</a:t>
            </a:r>
            <a:endParaRPr lang="es-ES" sz="1400" dirty="0">
              <a:solidFill>
                <a:schemeClr val="tx1"/>
              </a:solidFill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586BB988-39F9-A280-AE09-28E386304E1A}"/>
              </a:ext>
            </a:extLst>
          </p:cNvPr>
          <p:cNvCxnSpPr>
            <a:stCxn id="60" idx="3"/>
            <a:endCxn id="39" idx="1"/>
          </p:cNvCxnSpPr>
          <p:nvPr/>
        </p:nvCxnSpPr>
        <p:spPr>
          <a:xfrm flipV="1">
            <a:off x="9194489" y="4583957"/>
            <a:ext cx="496604" cy="39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6DA68D8D-7FE5-C4B2-5462-A4373B18487F}"/>
              </a:ext>
            </a:extLst>
          </p:cNvPr>
          <p:cNvCxnSpPr>
            <a:stCxn id="39" idx="2"/>
            <a:endCxn id="173" idx="0"/>
          </p:cNvCxnSpPr>
          <p:nvPr/>
        </p:nvCxnSpPr>
        <p:spPr>
          <a:xfrm>
            <a:off x="10592554" y="5061328"/>
            <a:ext cx="2835" cy="3134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Diagrama de flujo: decisión 46">
            <a:extLst>
              <a:ext uri="{FF2B5EF4-FFF2-40B4-BE49-F238E27FC236}">
                <a16:creationId xmlns:a16="http://schemas.microsoft.com/office/drawing/2014/main" id="{8FC91AAF-39C5-9DF8-00C5-50F7AD5225F6}"/>
              </a:ext>
            </a:extLst>
          </p:cNvPr>
          <p:cNvSpPr/>
          <p:nvPr/>
        </p:nvSpPr>
        <p:spPr>
          <a:xfrm>
            <a:off x="7025547" y="5124188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200" dirty="0">
                <a:solidFill>
                  <a:schemeClr val="tx1"/>
                </a:solidFill>
              </a:rPr>
              <a:t>se </a:t>
            </a:r>
            <a:r>
              <a:rPr lang="ca-ES" sz="1200" dirty="0" err="1">
                <a:solidFill>
                  <a:schemeClr val="tx1"/>
                </a:solidFill>
              </a:rPr>
              <a:t>encuentra</a:t>
            </a:r>
            <a:r>
              <a:rPr lang="ca-ES" sz="1200" dirty="0">
                <a:solidFill>
                  <a:schemeClr val="tx1"/>
                </a:solidFill>
              </a:rPr>
              <a:t> en </a:t>
            </a:r>
            <a:endParaRPr lang="es-ES" sz="1200" dirty="0">
              <a:solidFill>
                <a:schemeClr val="tx1"/>
              </a:solidFill>
            </a:endParaRPr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652F27F4-5342-528C-C831-F223080885DC}"/>
              </a:ext>
            </a:extLst>
          </p:cNvPr>
          <p:cNvCxnSpPr>
            <a:cxnSpLocks/>
          </p:cNvCxnSpPr>
          <p:nvPr/>
        </p:nvCxnSpPr>
        <p:spPr>
          <a:xfrm>
            <a:off x="6997456" y="3496527"/>
            <a:ext cx="1053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342368F5-6793-7798-1AD0-C5545346B85D}"/>
              </a:ext>
            </a:extLst>
          </p:cNvPr>
          <p:cNvCxnSpPr>
            <a:cxnSpLocks/>
          </p:cNvCxnSpPr>
          <p:nvPr/>
        </p:nvCxnSpPr>
        <p:spPr>
          <a:xfrm>
            <a:off x="7102830" y="3505491"/>
            <a:ext cx="0" cy="20915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288F8A45-39A1-D2F2-9BD2-C1E10DBEBEBF}"/>
              </a:ext>
            </a:extLst>
          </p:cNvPr>
          <p:cNvCxnSpPr>
            <a:stCxn id="47" idx="3"/>
          </p:cNvCxnSpPr>
          <p:nvPr/>
        </p:nvCxnSpPr>
        <p:spPr>
          <a:xfrm flipV="1">
            <a:off x="8828468" y="5597045"/>
            <a:ext cx="874176" cy="4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CuadroTexto 65">
            <a:extLst>
              <a:ext uri="{FF2B5EF4-FFF2-40B4-BE49-F238E27FC236}">
                <a16:creationId xmlns:a16="http://schemas.microsoft.com/office/drawing/2014/main" id="{36262CBE-C633-ED97-6F4B-CC3D2F52260C}"/>
              </a:ext>
            </a:extLst>
          </p:cNvPr>
          <p:cNvSpPr txBox="1"/>
          <p:nvPr/>
        </p:nvSpPr>
        <p:spPr>
          <a:xfrm>
            <a:off x="7044942" y="3771111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(0,n)</a:t>
            </a:r>
            <a:endParaRPr lang="es-ES" sz="1000" dirty="0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AC1EA9AD-B4E2-45EE-E7A9-B218EA445DB3}"/>
              </a:ext>
            </a:extLst>
          </p:cNvPr>
          <p:cNvSpPr txBox="1"/>
          <p:nvPr/>
        </p:nvSpPr>
        <p:spPr>
          <a:xfrm>
            <a:off x="8860716" y="5339252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32467612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258</Words>
  <Application>Microsoft Office PowerPoint</Application>
  <PresentationFormat>Panorámica</PresentationFormat>
  <Paragraphs>81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Alumne_tarda1</dc:creator>
  <cp:lastModifiedBy>Alumne_tarda1</cp:lastModifiedBy>
  <cp:revision>60</cp:revision>
  <dcterms:created xsi:type="dcterms:W3CDTF">2026-10-20T16:43:21Z</dcterms:created>
  <dcterms:modified xsi:type="dcterms:W3CDTF">2026-10-23T14:00:38Z</dcterms:modified>
</cp:coreProperties>
</file>